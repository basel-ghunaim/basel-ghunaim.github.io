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70" r:id="rId7"/>
    <p:sldId id="259" r:id="rId8"/>
    <p:sldId id="260" r:id="rId9"/>
    <p:sldId id="262" r:id="rId10"/>
    <p:sldId id="263" r:id="rId11"/>
    <p:sldId id="271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3E024-8C22-EE5C-717F-2D754088B7D9}" v="27" dt="2026-03-31T09:56:15.276"/>
    <p1510:client id="{A8396C26-10BE-4553-3A56-D649929A8631}" v="904" dt="2026-03-31T09:35:17.135"/>
    <p1510:client id="{AE50881D-9043-4C38-82E6-C6E74DE37C3E}" v="15" dt="2026-03-30T20:02:55.167"/>
    <p1510:client id="{C1CE9405-DA55-4973-882E-EA2FC5C3C110}" v="2665" dt="2026-03-31T09:44:15.267"/>
    <p1510:client id="{C2EE2FAD-2D45-87C1-97E7-5EB9EB70C7B2}" v="138" dt="2026-03-31T08:55:50.590"/>
    <p1510:client id="{CA42391E-8BB0-FC5C-6340-1422BAC05DC3}" v="170" dt="2026-03-31T08:32:14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73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aduac-my.sharepoint.com/:x:/g/personal/1087993_students_adu_ac_ae/IQCVl5X-gnVOTbJbda9AOzVBAQxvkQVJ4Exoq-0edEJwLJE?e=tAfXTX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0672"/>
            <a:ext cx="8286750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REPORT</a:t>
            </a:r>
            <a:endParaRPr lang="en-US" sz="3294"/>
          </a:p>
        </p:txBody>
      </p:sp>
      <p:sp>
        <p:nvSpPr>
          <p:cNvPr id="4" name="Text 1"/>
          <p:cNvSpPr/>
          <p:nvPr/>
        </p:nvSpPr>
        <p:spPr>
          <a:xfrm>
            <a:off x="268605" y="1482315"/>
            <a:ext cx="5976188" cy="2323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Mechatronic System Design (MEC483) – Course Project</a:t>
            </a:r>
            <a:endParaRPr lang="en-US" sz="1486"/>
          </a:p>
        </p:txBody>
      </p:sp>
      <p:sp>
        <p:nvSpPr>
          <p:cNvPr id="6" name="Text 3"/>
          <p:cNvSpPr/>
          <p:nvPr/>
        </p:nvSpPr>
        <p:spPr>
          <a:xfrm>
            <a:off x="428625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/ PHASE</a:t>
            </a:r>
            <a:endParaRPr lang="en-US" sz="683"/>
          </a:p>
        </p:txBody>
      </p:sp>
      <p:sp>
        <p:nvSpPr>
          <p:cNvPr id="7" name="Text 4"/>
          <p:cNvSpPr/>
          <p:nvPr/>
        </p:nvSpPr>
        <p:spPr>
          <a:xfrm>
            <a:off x="428625" y="4093369"/>
            <a:ext cx="151964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Pick and Place Robot 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643438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 RANGE</a:t>
            </a:r>
            <a:endParaRPr lang="en-US" sz="683"/>
          </a:p>
        </p:txBody>
      </p:sp>
      <p:sp>
        <p:nvSpPr>
          <p:cNvPr id="9" name="Text 6"/>
          <p:cNvSpPr/>
          <p:nvPr/>
        </p:nvSpPr>
        <p:spPr>
          <a:xfrm>
            <a:off x="4643438" y="4093369"/>
            <a:ext cx="1463542" cy="169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24/3/2026 – 31/3/2026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>
          <a:xfrm>
            <a:off x="428625" y="4509492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4677370"/>
            <a:ext cx="832920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Maher Abo Abed (1087993) , Sabeeha </a:t>
            </a: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Zainab 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Hasham (1089042), Basel Feras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Ghunaim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 (1088912), Ahmad Nasser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Alshehhi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(1090882)</a:t>
            </a:r>
            <a:endParaRPr lang="en-US" sz="1050">
              <a:latin typeface="Inter"/>
              <a:ea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61D1B-B582-DFBF-FDF9-68A8A5F66518}"/>
              </a:ext>
            </a:extLst>
          </p:cNvPr>
          <p:cNvSpPr/>
          <p:nvPr/>
        </p:nvSpPr>
        <p:spPr>
          <a:xfrm>
            <a:off x="4572000" y="4373880"/>
            <a:ext cx="4143376" cy="132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ARE WE DOING THIS WEEK?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WINS (MAX 3)</a:t>
            </a:r>
            <a:endParaRPr lang="en-US" sz="885"/>
          </a:p>
        </p:txBody>
      </p:sp>
      <p:sp>
        <p:nvSpPr>
          <p:cNvPr id="9" name="Text 6"/>
          <p:cNvSpPr/>
          <p:nvPr/>
        </p:nvSpPr>
        <p:spPr>
          <a:xfrm>
            <a:off x="428625" y="159090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0" name="Text 7"/>
          <p:cNvSpPr/>
          <p:nvPr/>
        </p:nvSpPr>
        <p:spPr>
          <a:xfrm>
            <a:off x="431601" y="2236181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2" name="Shape 9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BLOCKERS / RISKS (MAX 3)</a:t>
            </a:r>
            <a:endParaRPr lang="en-US" sz="885"/>
          </a:p>
        </p:txBody>
      </p:sp>
      <p:sp>
        <p:nvSpPr>
          <p:cNvPr id="19" name="Text 16"/>
          <p:cNvSpPr/>
          <p:nvPr/>
        </p:nvSpPr>
        <p:spPr>
          <a:xfrm>
            <a:off x="3238491" y="2795252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20" name="Shape 17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HEALTH</a:t>
            </a:r>
            <a:endParaRPr lang="en-US" sz="885"/>
          </a:p>
        </p:txBody>
      </p:sp>
      <p:sp>
        <p:nvSpPr>
          <p:cNvPr id="22" name="Text 19"/>
          <p:cNvSpPr/>
          <p:nvPr/>
        </p:nvSpPr>
        <p:spPr>
          <a:xfrm>
            <a:off x="6291244" y="1648058"/>
            <a:ext cx="264496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Scope</a:t>
            </a:r>
            <a:endParaRPr lang="en-US" sz="683"/>
          </a:p>
        </p:txBody>
      </p:sp>
      <p:sp>
        <p:nvSpPr>
          <p:cNvPr id="23" name="Text 20"/>
          <p:cNvSpPr/>
          <p:nvPr/>
        </p:nvSpPr>
        <p:spPr>
          <a:xfrm>
            <a:off x="8007406" y="1653415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</a:rPr>
              <a:t>Under Execution</a:t>
            </a:r>
            <a:endParaRPr lang="en-US" sz="727"/>
          </a:p>
        </p:txBody>
      </p:sp>
      <p:sp>
        <p:nvSpPr>
          <p:cNvPr id="24" name="Text 21"/>
          <p:cNvSpPr/>
          <p:nvPr/>
        </p:nvSpPr>
        <p:spPr>
          <a:xfrm>
            <a:off x="6291244" y="1987386"/>
            <a:ext cx="423193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Schedule</a:t>
            </a:r>
            <a:endParaRPr lang="en-US" sz="683"/>
          </a:p>
        </p:txBody>
      </p:sp>
      <p:sp>
        <p:nvSpPr>
          <p:cNvPr id="25" name="Text 22"/>
          <p:cNvSpPr/>
          <p:nvPr/>
        </p:nvSpPr>
        <p:spPr>
          <a:xfrm>
            <a:off x="8047481" y="1992743"/>
            <a:ext cx="610744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Delays</a:t>
            </a:r>
            <a:endParaRPr lang="en-US" sz="727"/>
          </a:p>
        </p:txBody>
      </p:sp>
      <p:sp>
        <p:nvSpPr>
          <p:cNvPr id="26" name="Text 23"/>
          <p:cNvSpPr/>
          <p:nvPr/>
        </p:nvSpPr>
        <p:spPr>
          <a:xfrm>
            <a:off x="6291244" y="2326714"/>
            <a:ext cx="1322478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Fabrication &amp; Prototyping</a:t>
            </a:r>
            <a:endParaRPr lang="en-US" sz="683"/>
          </a:p>
        </p:txBody>
      </p:sp>
      <p:sp>
        <p:nvSpPr>
          <p:cNvPr id="27" name="Text 24"/>
          <p:cNvSpPr/>
          <p:nvPr/>
        </p:nvSpPr>
        <p:spPr>
          <a:xfrm>
            <a:off x="8371287" y="2332072"/>
            <a:ext cx="286938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Halt</a:t>
            </a:r>
            <a:endParaRPr lang="en-US" sz="727"/>
          </a:p>
        </p:txBody>
      </p:sp>
      <p:sp>
        <p:nvSpPr>
          <p:cNvPr id="28" name="Shape 25"/>
          <p:cNvSpPr/>
          <p:nvPr/>
        </p:nvSpPr>
        <p:spPr>
          <a:xfrm>
            <a:off x="6048356" y="2723192"/>
            <a:ext cx="2667019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48356" y="2723192"/>
            <a:ext cx="2667019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34081" y="2808917"/>
            <a:ext cx="493725" cy="96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ISSUES</a:t>
            </a:r>
            <a:endParaRPr lang="en-US" sz="584"/>
          </a:p>
        </p:txBody>
      </p:sp>
      <p:sp>
        <p:nvSpPr>
          <p:cNvPr id="31" name="Text 28"/>
          <p:cNvSpPr/>
          <p:nvPr/>
        </p:nvSpPr>
        <p:spPr>
          <a:xfrm>
            <a:off x="6134081" y="2921431"/>
            <a:ext cx="50815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3 Active</a:t>
            </a:r>
            <a:endParaRPr lang="en-US" sz="1193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C2AC5C4-3CA8-D873-3682-F0F2B35AEBB2}"/>
              </a:ext>
            </a:extLst>
          </p:cNvPr>
          <p:cNvSpPr/>
          <p:nvPr/>
        </p:nvSpPr>
        <p:spPr>
          <a:xfrm>
            <a:off x="6101497" y="2339672"/>
            <a:ext cx="116681" cy="10358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9FC47-D95F-B36D-EA15-0D696889EAB4}"/>
              </a:ext>
            </a:extLst>
          </p:cNvPr>
          <p:cNvSpPr txBox="1"/>
          <p:nvPr/>
        </p:nvSpPr>
        <p:spPr>
          <a:xfrm>
            <a:off x="365897" y="1580627"/>
            <a:ext cx="2729654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/>
              <a:t>Started the conceptual design phase, which includes design requirement, constraints ,sketches, and CAD models for the different systems (Platform, rotary joint, and prismatic joint)</a:t>
            </a:r>
          </a:p>
          <a:p>
            <a:pPr>
              <a:buClr>
                <a:schemeClr val="accent2"/>
              </a:buClr>
            </a:pPr>
            <a:endParaRPr lang="en-US" sz="800"/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Building a foundation for the electrical architecture (battery requirements, motor drivers, step down, cables, power unit)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 Used the HSV </a:t>
            </a:r>
            <a:r>
              <a:rPr lang="en-US" sz="800" err="1">
                <a:latin typeface="Inter "/>
              </a:rPr>
              <a:t>colour</a:t>
            </a:r>
            <a:r>
              <a:rPr lang="en-US" sz="800">
                <a:latin typeface="Inter "/>
              </a:rPr>
              <a:t> detection system alongside shape detection </a:t>
            </a:r>
            <a:r>
              <a:rPr lang="en-US" sz="800" err="1">
                <a:latin typeface="Inter "/>
              </a:rPr>
              <a:t>usin</a:t>
            </a:r>
            <a:r>
              <a:rPr lang="en-US" sz="800">
                <a:latin typeface="Inter "/>
              </a:rPr>
              <a:t>g </a:t>
            </a:r>
            <a:r>
              <a:rPr lang="en-US" sz="800" err="1">
                <a:latin typeface="Inter "/>
              </a:rPr>
              <a:t>Opencv</a:t>
            </a:r>
            <a:r>
              <a:rPr lang="en-US" sz="800">
                <a:latin typeface="Inter "/>
              </a:rPr>
              <a:t> to identify an object within a test space.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C156F-7AD9-DC02-254D-19506AE6F4B4}"/>
              </a:ext>
            </a:extLst>
          </p:cNvPr>
          <p:cNvSpPr txBox="1"/>
          <p:nvPr/>
        </p:nvSpPr>
        <p:spPr>
          <a:xfrm>
            <a:off x="3252957" y="1501799"/>
            <a:ext cx="254243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/>
              <a:t>Blocker : Limited university access, making gathering as a group extremely difficult.</a:t>
            </a:r>
            <a:endParaRPr lang="en-US" sz="800">
              <a:ea typeface="Calibri"/>
              <a:cs typeface="Calibri"/>
            </a:endParaRPr>
          </a:p>
          <a:p>
            <a:pPr>
              <a:buClr>
                <a:schemeClr val="accent2"/>
              </a:buClr>
            </a:pPr>
            <a:endParaRPr lang="en-US" sz="800">
              <a:ea typeface="Calibri"/>
              <a:cs typeface="Calibri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Risk: The components are pricey, so every step has to be studied carefully before executing.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Blocker: Uncertainty around the future of the semester is creating hesitation and doubt.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C741AB-39EC-2AA6-968B-ABD933D7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35C9814-FA25-2EF1-B06C-3E2735E9BCEC}"/>
              </a:ext>
            </a:extLst>
          </p:cNvPr>
          <p:cNvSpPr/>
          <p:nvPr/>
        </p:nvSpPr>
        <p:spPr>
          <a:xfrm>
            <a:off x="428625" y="665792"/>
            <a:ext cx="3731791" cy="6742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Schedule (Gantt)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01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3C2E7-665E-4C09-FF9D-14860C5E6215}"/>
              </a:ext>
            </a:extLst>
          </p:cNvPr>
          <p:cNvSpPr txBox="1"/>
          <p:nvPr/>
        </p:nvSpPr>
        <p:spPr>
          <a:xfrm>
            <a:off x="3093983" y="2354974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3"/>
              </a:rPr>
              <a:t>Agile Gantt chart1.xlsx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MILESTONES &amp; DELIVERABLES</a:t>
            </a:r>
            <a:endParaRPr lang="en-US" sz="2016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77D0C3D-FF55-D24E-70C7-E84830675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53" y="1380802"/>
            <a:ext cx="8734274" cy="339067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A9C34AC-0711-D43E-7A28-3D3A8FD1B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477" y="1042625"/>
            <a:ext cx="4681045" cy="42428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0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ISSUES, RISKS, AND ACTION ITEMS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ISSUES (BLOCKING PROGRESS)</a:t>
            </a:r>
            <a:endParaRPr lang="en-US" sz="885"/>
          </a:p>
        </p:txBody>
      </p:sp>
      <p:sp>
        <p:nvSpPr>
          <p:cNvPr id="6" name="Text 3"/>
          <p:cNvSpPr/>
          <p:nvPr/>
        </p:nvSpPr>
        <p:spPr>
          <a:xfrm>
            <a:off x="428625" y="1712351"/>
            <a:ext cx="171778" cy="1408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Inter"/>
              <a:ea typeface="Inter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4192" y="1714603"/>
            <a:ext cx="3658246" cy="50725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Being limited to solely software-based work, </a:t>
            </a:r>
            <a:r>
              <a:rPr lang="en-US" sz="800" err="1">
                <a:latin typeface="Times New Roman"/>
                <a:ea typeface="Calibri"/>
                <a:cs typeface="Times New Roman"/>
              </a:rPr>
              <a:t>ie</a:t>
            </a:r>
            <a:r>
              <a:rPr lang="en-US" sz="800">
                <a:latin typeface="Times New Roman"/>
                <a:ea typeface="Calibri"/>
                <a:cs typeface="Times New Roman"/>
              </a:rPr>
              <a:t>: research/computer vision can slow 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down performance – not having easy access to facilities to make the model, </a:t>
            </a:r>
            <a:r>
              <a:rPr lang="en-US" sz="800" err="1">
                <a:latin typeface="Times New Roman"/>
                <a:ea typeface="Calibri"/>
                <a:cs typeface="Times New Roman"/>
              </a:rPr>
              <a:t>ie</a:t>
            </a:r>
            <a:r>
              <a:rPr lang="en-US" sz="800">
                <a:latin typeface="Times New Roman"/>
                <a:ea typeface="Calibri"/>
                <a:cs typeface="Times New Roman"/>
              </a:rPr>
              <a:t>: 3D 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printer.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Times New Roman"/>
              <a:ea typeface="Inter"/>
              <a:cs typeface="Times New Roman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8531" y="2123949"/>
            <a:ext cx="3691908" cy="63036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Due to current circumstances, teammates cannot meet in person to discuss project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planning, this has resulted in Microsoft Teams meetings occurring 1-2 times a week. 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This can be limiting as only one teammate has access to the objects that need to be</a:t>
            </a:r>
          </a:p>
          <a:p>
            <a:pPr algn="just"/>
            <a:r>
              <a:rPr lang="en-US" sz="800">
                <a:latin typeface="Times New Roman"/>
                <a:ea typeface="Calibri"/>
                <a:cs typeface="Times New Roman"/>
              </a:rPr>
              <a:t>picked up by the arm.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1712351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0" name="Text 7"/>
          <p:cNvSpPr/>
          <p:nvPr/>
        </p:nvSpPr>
        <p:spPr>
          <a:xfrm>
            <a:off x="428625" y="2113870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2" name="Shape 9"/>
          <p:cNvSpPr/>
          <p:nvPr/>
        </p:nvSpPr>
        <p:spPr>
          <a:xfrm>
            <a:off x="444283" y="2629198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6454" y="2629197"/>
            <a:ext cx="3628982" cy="316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MITIGATIONS / DECISIONS NEEDED</a:t>
            </a:r>
            <a:endParaRPr lang="en-US" sz="885"/>
          </a:p>
        </p:txBody>
      </p:sp>
      <p:sp>
        <p:nvSpPr>
          <p:cNvPr id="14" name="Text 11"/>
          <p:cNvSpPr/>
          <p:nvPr/>
        </p:nvSpPr>
        <p:spPr>
          <a:xfrm>
            <a:off x="436453" y="2994091"/>
            <a:ext cx="3538812" cy="38702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800">
                <a:latin typeface="Times New Roman"/>
                <a:ea typeface="Calibri"/>
                <a:cs typeface="Times New Roman"/>
              </a:rPr>
              <a:t>Focus on aspects that can be conducted without the need for printing the model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sz="800">
                <a:latin typeface="Times New Roman"/>
                <a:ea typeface="Calibri"/>
                <a:cs typeface="Times New Roman"/>
              </a:rPr>
              <a:t>– design/computer vision/research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ts val="1200"/>
              </a:lnSpc>
            </a:pPr>
            <a:endParaRPr lang="en-US" sz="750">
              <a:solidFill>
                <a:srgbClr val="333333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8625" y="3311744"/>
            <a:ext cx="3411383" cy="29642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800">
                <a:latin typeface="Times New Roman"/>
                <a:ea typeface="Calibri"/>
                <a:cs typeface="Times New Roman"/>
              </a:rPr>
              <a:t>More comprehensive meetings are required to mitigate this issue, </a:t>
            </a:r>
          </a:p>
          <a:p>
            <a:pPr>
              <a:lnSpc>
                <a:spcPts val="1200"/>
              </a:lnSpc>
            </a:pPr>
            <a:r>
              <a:rPr lang="en-US" sz="800">
                <a:latin typeface="Times New Roman"/>
                <a:ea typeface="Calibri"/>
                <a:cs typeface="Times New Roman"/>
              </a:rPr>
              <a:t>planning in advance and strong delegation of tasks needs to be implemented.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6454" y="2996343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19" name="Text 16"/>
          <p:cNvSpPr/>
          <p:nvPr/>
        </p:nvSpPr>
        <p:spPr>
          <a:xfrm>
            <a:off x="436454" y="3311744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(NEXT 7 DAYS)</a:t>
            </a:r>
            <a:endParaRPr lang="en-US" sz="885"/>
          </a:p>
        </p:txBody>
      </p:sp>
      <p:sp>
        <p:nvSpPr>
          <p:cNvPr id="22" name="Shape 19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</a:t>
            </a:r>
            <a:endParaRPr lang="en-US" sz="683"/>
          </a:p>
        </p:txBody>
      </p:sp>
      <p:sp>
        <p:nvSpPr>
          <p:cNvPr id="24" name="Shape 21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 DESCRIPTION</a:t>
            </a:r>
            <a:endParaRPr lang="en-US" sz="683"/>
          </a:p>
        </p:txBody>
      </p:sp>
      <p:sp>
        <p:nvSpPr>
          <p:cNvPr id="26" name="Shape 23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MEMBER</a:t>
            </a:r>
            <a:endParaRPr lang="en-US" sz="683"/>
          </a:p>
        </p:txBody>
      </p:sp>
      <p:sp>
        <p:nvSpPr>
          <p:cNvPr id="28" name="Shape 25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WEEK DUE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354757" y="1990958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683"/>
          </a:p>
        </p:txBody>
      </p:sp>
      <p:sp>
        <p:nvSpPr>
          <p:cNvPr id="31" name="Text 28"/>
          <p:cNvSpPr/>
          <p:nvPr/>
        </p:nvSpPr>
        <p:spPr>
          <a:xfrm>
            <a:off x="4790526" y="1948435"/>
            <a:ext cx="2192489" cy="3565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r>
              <a:rPr lang="en-US" sz="600">
                <a:latin typeface="Times New Roman"/>
                <a:ea typeface="Calibri"/>
                <a:cs typeface="Times New Roman"/>
              </a:rPr>
              <a:t>Investigate how to mitigate issues experienced using vision detection </a:t>
            </a:r>
          </a:p>
        </p:txBody>
      </p:sp>
      <p:sp>
        <p:nvSpPr>
          <p:cNvPr id="32" name="Text 29"/>
          <p:cNvSpPr/>
          <p:nvPr/>
        </p:nvSpPr>
        <p:spPr>
          <a:xfrm>
            <a:off x="6983016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latin typeface="Times New Roman"/>
                <a:ea typeface="Calibri"/>
                <a:cs typeface="Times New Roman"/>
              </a:rPr>
              <a:t>Sabeeha</a:t>
            </a:r>
          </a:p>
        </p:txBody>
      </p:sp>
      <p:sp>
        <p:nvSpPr>
          <p:cNvPr id="33" name="Text 30"/>
          <p:cNvSpPr/>
          <p:nvPr/>
        </p:nvSpPr>
        <p:spPr>
          <a:xfrm>
            <a:off x="7847409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Week 4</a:t>
            </a:r>
          </a:p>
        </p:txBody>
      </p:sp>
      <p:sp>
        <p:nvSpPr>
          <p:cNvPr id="34" name="Shape 31"/>
          <p:cNvSpPr/>
          <p:nvPr/>
        </p:nvSpPr>
        <p:spPr>
          <a:xfrm>
            <a:off x="4354757" y="2262420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54757" y="2262420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683"/>
          </a:p>
        </p:txBody>
      </p:sp>
      <p:sp>
        <p:nvSpPr>
          <p:cNvPr id="36" name="Text 33"/>
          <p:cNvSpPr/>
          <p:nvPr/>
        </p:nvSpPr>
        <p:spPr>
          <a:xfrm>
            <a:off x="4790526" y="2201078"/>
            <a:ext cx="2192489" cy="39414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err="1">
                <a:latin typeface="Times New Roman"/>
                <a:ea typeface="Calibri"/>
                <a:cs typeface="Times New Roman"/>
              </a:rPr>
              <a:t>Finalise</a:t>
            </a:r>
            <a:r>
              <a:rPr lang="en-US" sz="600">
                <a:latin typeface="Times New Roman"/>
                <a:ea typeface="Calibri"/>
                <a:cs typeface="Times New Roman"/>
              </a:rPr>
              <a:t> the main CAD design and what is required in order to make the prototype.</a:t>
            </a:r>
          </a:p>
        </p:txBody>
      </p:sp>
      <p:sp>
        <p:nvSpPr>
          <p:cNvPr id="37" name="Text 34"/>
          <p:cNvSpPr/>
          <p:nvPr/>
        </p:nvSpPr>
        <p:spPr>
          <a:xfrm>
            <a:off x="6983016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Maher</a:t>
            </a:r>
            <a:endParaRPr lang="en-US" sz="700">
              <a:latin typeface="Inter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47409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4</a:t>
            </a:r>
          </a:p>
        </p:txBody>
      </p:sp>
      <p:sp>
        <p:nvSpPr>
          <p:cNvPr id="39" name="Text 36"/>
          <p:cNvSpPr/>
          <p:nvPr/>
        </p:nvSpPr>
        <p:spPr>
          <a:xfrm>
            <a:off x="4354757" y="2533883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683"/>
          </a:p>
        </p:txBody>
      </p:sp>
      <p:sp>
        <p:nvSpPr>
          <p:cNvPr id="40" name="Text 37"/>
          <p:cNvSpPr/>
          <p:nvPr/>
        </p:nvSpPr>
        <p:spPr>
          <a:xfrm>
            <a:off x="4790526" y="2525643"/>
            <a:ext cx="2192489" cy="3975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solidFill>
                  <a:srgbClr val="333333"/>
                </a:solidFill>
                <a:latin typeface="Inter"/>
              </a:rPr>
              <a:t>Investigate motion control strategy, torque estimations, suction system and gripper 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983016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Basel</a:t>
            </a:r>
          </a:p>
        </p:txBody>
      </p:sp>
      <p:sp>
        <p:nvSpPr>
          <p:cNvPr id="42" name="Text 39"/>
          <p:cNvSpPr/>
          <p:nvPr/>
        </p:nvSpPr>
        <p:spPr>
          <a:xfrm>
            <a:off x="7847409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4</a:t>
            </a:r>
            <a:endParaRPr lang="en-US" sz="727"/>
          </a:p>
        </p:txBody>
      </p:sp>
      <p:sp>
        <p:nvSpPr>
          <p:cNvPr id="43" name="Shape 40"/>
          <p:cNvSpPr/>
          <p:nvPr/>
        </p:nvSpPr>
        <p:spPr>
          <a:xfrm>
            <a:off x="4354757" y="2805345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54757" y="2805345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683"/>
          </a:p>
        </p:txBody>
      </p:sp>
      <p:sp>
        <p:nvSpPr>
          <p:cNvPr id="45" name="Text 42"/>
          <p:cNvSpPr/>
          <p:nvPr/>
        </p:nvSpPr>
        <p:spPr>
          <a:xfrm>
            <a:off x="4790526" y="2800012"/>
            <a:ext cx="2192489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err="1">
                <a:solidFill>
                  <a:srgbClr val="333333"/>
                </a:solidFill>
                <a:latin typeface="Inter"/>
              </a:rPr>
              <a:t>Finalise</a:t>
            </a:r>
            <a:r>
              <a:rPr lang="en-US" sz="600">
                <a:solidFill>
                  <a:srgbClr val="333333"/>
                </a:solidFill>
                <a:latin typeface="Inter"/>
              </a:rPr>
              <a:t> sensor selection and integration in system</a:t>
            </a:r>
            <a:endParaRPr lang="en-US" sz="600">
              <a:ea typeface="Calibri"/>
              <a:cs typeface="Calibr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83016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Ahmad</a:t>
            </a:r>
          </a:p>
        </p:txBody>
      </p:sp>
      <p:sp>
        <p:nvSpPr>
          <p:cNvPr id="47" name="Text 44"/>
          <p:cNvSpPr/>
          <p:nvPr/>
        </p:nvSpPr>
        <p:spPr>
          <a:xfrm>
            <a:off x="7847409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2382971"/>
            <a:ext cx="7715250" cy="753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2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INDIVIDUAL UPDATES</a:t>
            </a:r>
            <a:endParaRPr lang="en-US" sz="4145"/>
          </a:p>
        </p:txBody>
      </p:sp>
      <p:sp>
        <p:nvSpPr>
          <p:cNvPr id="4" name="Text 1"/>
          <p:cNvSpPr/>
          <p:nvPr/>
        </p:nvSpPr>
        <p:spPr>
          <a:xfrm>
            <a:off x="771525" y="3279511"/>
            <a:ext cx="7715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&amp; NEXT STEPS</a:t>
            </a:r>
            <a:endParaRPr lang="en-US" sz="1193"/>
          </a:p>
        </p:txBody>
      </p:sp>
      <p:sp>
        <p:nvSpPr>
          <p:cNvPr id="5" name="Text 2"/>
          <p:cNvSpPr/>
          <p:nvPr/>
        </p:nvSpPr>
        <p:spPr>
          <a:xfrm>
            <a:off x="942975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</a:t>
            </a:r>
            <a:endParaRPr lang="en-US" sz="727"/>
          </a:p>
        </p:txBody>
      </p:sp>
      <p:sp>
        <p:nvSpPr>
          <p:cNvPr id="6" name="Text 3"/>
          <p:cNvSpPr/>
          <p:nvPr/>
        </p:nvSpPr>
        <p:spPr>
          <a:xfrm>
            <a:off x="942975" y="3838510"/>
            <a:ext cx="3693319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Maher Abo Abed 			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3843338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2</a:t>
            </a:r>
            <a:endParaRPr lang="en-US" sz="727"/>
          </a:p>
        </p:txBody>
      </p:sp>
      <p:sp>
        <p:nvSpPr>
          <p:cNvPr id="8" name="Text 5"/>
          <p:cNvSpPr/>
          <p:nvPr/>
        </p:nvSpPr>
        <p:spPr>
          <a:xfrm>
            <a:off x="3843338" y="3838510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Sabeeha Zainab Hasham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942975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</a:t>
            </a:r>
            <a:endParaRPr lang="en-US" sz="727"/>
          </a:p>
        </p:txBody>
      </p:sp>
      <p:sp>
        <p:nvSpPr>
          <p:cNvPr id="10" name="Text 7"/>
          <p:cNvSpPr/>
          <p:nvPr/>
        </p:nvSpPr>
        <p:spPr>
          <a:xfrm>
            <a:off x="942975" y="4302854"/>
            <a:ext cx="15228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Basel Feras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Ghunaim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3843338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4</a:t>
            </a:r>
            <a:endParaRPr lang="en-US" sz="727"/>
          </a:p>
        </p:txBody>
      </p:sp>
      <p:sp>
        <p:nvSpPr>
          <p:cNvPr id="12" name="Text 9"/>
          <p:cNvSpPr/>
          <p:nvPr/>
        </p:nvSpPr>
        <p:spPr>
          <a:xfrm>
            <a:off x="3843338" y="4302854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Ahmad Nasser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Alshehhi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 0" descr="preencoded.png">
            <a:extLst>
              <a:ext uri="{FF2B5EF4-FFF2-40B4-BE49-F238E27FC236}">
                <a16:creationId xmlns:a16="http://schemas.microsoft.com/office/drawing/2014/main" id="{43F7617B-9648-7C4E-FA5E-101833219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2962349" cy="26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1: Maher Abo Abed</a:t>
            </a:r>
            <a:endParaRPr lang="en-US" sz="1602"/>
          </a:p>
        </p:txBody>
      </p:sp>
      <p:sp>
        <p:nvSpPr>
          <p:cNvPr id="4" name="Shape 1"/>
          <p:cNvSpPr/>
          <p:nvPr/>
        </p:nvSpPr>
        <p:spPr>
          <a:xfrm>
            <a:off x="428625" y="1093851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093851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101923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784"/>
          </a:p>
        </p:txBody>
      </p:sp>
      <p:sp>
        <p:nvSpPr>
          <p:cNvPr id="18" name="Text 15"/>
          <p:cNvSpPr/>
          <p:nvPr/>
        </p:nvSpPr>
        <p:spPr>
          <a:xfrm>
            <a:off x="428625" y="264497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28625" y="3681888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681888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681888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27" name="Shape 24"/>
          <p:cNvSpPr/>
          <p:nvPr/>
        </p:nvSpPr>
        <p:spPr>
          <a:xfrm>
            <a:off x="5486400" y="1101923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0" y="1101923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0" y="1101923"/>
            <a:ext cx="3228975" cy="2694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</a:t>
            </a:r>
            <a:endParaRPr lang="en-US" sz="784"/>
          </a:p>
        </p:txBody>
      </p:sp>
      <p:sp>
        <p:nvSpPr>
          <p:cNvPr id="41" name="Text 38"/>
          <p:cNvSpPr/>
          <p:nvPr/>
        </p:nvSpPr>
        <p:spPr>
          <a:xfrm>
            <a:off x="5593556" y="447377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BC5C11AB-4298-1F3D-4BAB-A15E04959EA3}"/>
              </a:ext>
            </a:extLst>
          </p:cNvPr>
          <p:cNvSpPr/>
          <p:nvPr/>
        </p:nvSpPr>
        <p:spPr>
          <a:xfrm>
            <a:off x="432197" y="2106660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D4137FF8-BCB6-131E-C126-133FA6B6492C}"/>
              </a:ext>
            </a:extLst>
          </p:cNvPr>
          <p:cNvSpPr/>
          <p:nvPr/>
        </p:nvSpPr>
        <p:spPr>
          <a:xfrm>
            <a:off x="428625" y="2305644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7F8F1F96-9CDD-DA54-2FD8-627D600644BE}"/>
              </a:ext>
            </a:extLst>
          </p:cNvPr>
          <p:cNvSpPr/>
          <p:nvPr/>
        </p:nvSpPr>
        <p:spPr>
          <a:xfrm>
            <a:off x="428625" y="2450997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57E5E1-D9EE-98B2-92F1-5A277F23A7CA}"/>
              </a:ext>
            </a:extLst>
          </p:cNvPr>
          <p:cNvSpPr txBox="1"/>
          <p:nvPr/>
        </p:nvSpPr>
        <p:spPr>
          <a:xfrm>
            <a:off x="478631" y="1473398"/>
            <a:ext cx="46189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/>
              <a:t>Design definition ( Joints, system architecture, environment planning, operation order) 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/>
              <a:t>System complexity reduction  (Smart container placement,)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/>
              <a:t> ​​Started looking into the electrical architecture (Battery size, step down, motor drivers (A4989, PCA9685)​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Robots platform requirements (what components should there be space for?)​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Supporting components (Thrust, radial, ball bearing, flanges)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Joint mechanisms (lead screw, GT2 pulleys)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Explored existing designs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Sketches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CB3CB0D9-571B-33FB-9203-503A4DD142BF}"/>
              </a:ext>
            </a:extLst>
          </p:cNvPr>
          <p:cNvSpPr/>
          <p:nvPr/>
        </p:nvSpPr>
        <p:spPr>
          <a:xfrm>
            <a:off x="428625" y="2721221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r>
              <a:rPr lang="en-US" sz="800" b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 PROGRESS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2F31ABC2-C27E-9258-D5CF-D35B548E4FE2}"/>
              </a:ext>
            </a:extLst>
          </p:cNvPr>
          <p:cNvSpPr/>
          <p:nvPr/>
        </p:nvSpPr>
        <p:spPr>
          <a:xfrm>
            <a:off x="428625" y="2721221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0EE0C4A1-62DE-BC2B-5C97-F1823850A00B}"/>
              </a:ext>
            </a:extLst>
          </p:cNvPr>
          <p:cNvSpPr/>
          <p:nvPr/>
        </p:nvSpPr>
        <p:spPr>
          <a:xfrm>
            <a:off x="428625" y="2729293"/>
            <a:ext cx="4843463" cy="26981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059FF9-8741-C360-B346-CD9C1E9C826B}"/>
              </a:ext>
            </a:extLst>
          </p:cNvPr>
          <p:cNvSpPr txBox="1"/>
          <p:nvPr/>
        </p:nvSpPr>
        <p:spPr>
          <a:xfrm>
            <a:off x="478631" y="3029443"/>
            <a:ext cx="461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CAD Design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Exploring Open-Source frameworks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Research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Electrical Architecture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A9F6B7-30B7-104D-1FAE-5250DE80EAE7}"/>
              </a:ext>
            </a:extLst>
          </p:cNvPr>
          <p:cNvSpPr txBox="1"/>
          <p:nvPr/>
        </p:nvSpPr>
        <p:spPr>
          <a:xfrm>
            <a:off x="478631" y="4048131"/>
            <a:ext cx="4618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Present a CAD design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Start fabrication 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Procurement of components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4290BA70-985C-1413-AAEC-484C75339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375" y="1611667"/>
            <a:ext cx="2151934" cy="2591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F05535E-5DC4-6387-2737-CB0164F65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F94574-07B7-A107-CE01-99EA9A999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362"/>
            <a:ext cx="4572000" cy="2433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88F95E-9FF6-BE7B-712D-344549A02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24615"/>
            <a:ext cx="4572000" cy="26188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98C848-1A4A-1FE7-8DAC-C417F8C09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0086" y="91362"/>
            <a:ext cx="4317999" cy="505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8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3446456" cy="2877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b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MEMBER 2: Sabeeha Hasham </a:t>
            </a:r>
            <a:endParaRPr lang="en-US">
              <a:latin typeface="Roboto Mono"/>
              <a:ea typeface="Roboto Mono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59994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159994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159994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784"/>
          </a:p>
        </p:txBody>
      </p:sp>
      <p:sp>
        <p:nvSpPr>
          <p:cNvPr id="7" name="Text 4"/>
          <p:cNvSpPr/>
          <p:nvPr/>
        </p:nvSpPr>
        <p:spPr>
          <a:xfrm>
            <a:off x="428625" y="1510038"/>
            <a:ext cx="6340069" cy="12952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endParaRPr lang="en-US" sz="700">
              <a:solidFill>
                <a:srgbClr val="333333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350337" y="1495813"/>
            <a:ext cx="4741690" cy="12348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900">
                <a:latin typeface="Times New Roman"/>
                <a:ea typeface="Calibri"/>
                <a:cs typeface="Times New Roman"/>
              </a:rPr>
              <a:t>Used </a:t>
            </a:r>
            <a:r>
              <a:rPr lang="en-US" sz="900" err="1">
                <a:latin typeface="Times New Roman"/>
                <a:ea typeface="Calibri"/>
                <a:cs typeface="Times New Roman"/>
              </a:rPr>
              <a:t>opencv</a:t>
            </a:r>
            <a:r>
              <a:rPr lang="en-US" sz="900">
                <a:latin typeface="Times New Roman"/>
                <a:ea typeface="Calibri"/>
                <a:cs typeface="Times New Roman"/>
              </a:rPr>
              <a:t> to implement </a:t>
            </a:r>
            <a:r>
              <a:rPr lang="en-US" sz="900" err="1">
                <a:latin typeface="Times New Roman"/>
                <a:ea typeface="Calibri"/>
                <a:cs typeface="Times New Roman"/>
              </a:rPr>
              <a:t>colour</a:t>
            </a:r>
            <a:r>
              <a:rPr lang="en-US" sz="900">
                <a:latin typeface="Times New Roman"/>
                <a:ea typeface="Calibri"/>
                <a:cs typeface="Times New Roman"/>
              </a:rPr>
              <a:t> detection to convert images from BGR to HSV and understanding the HSV </a:t>
            </a:r>
            <a:r>
              <a:rPr lang="en-US" sz="900" err="1">
                <a:latin typeface="Times New Roman"/>
                <a:ea typeface="Calibri"/>
                <a:cs typeface="Times New Roman"/>
              </a:rPr>
              <a:t>colour</a:t>
            </a:r>
            <a:r>
              <a:rPr lang="en-US" sz="900">
                <a:latin typeface="Times New Roman"/>
                <a:ea typeface="Calibri"/>
                <a:cs typeface="Times New Roman"/>
              </a:rPr>
              <a:t> space and how it can be further used.</a:t>
            </a:r>
            <a:br>
              <a:rPr lang="en-US" sz="900">
                <a:latin typeface="Times New Roman"/>
                <a:ea typeface="Calibri"/>
                <a:cs typeface="Times New Roman"/>
              </a:rPr>
            </a:br>
            <a:endParaRPr lang="en-US" sz="900"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latin typeface="Times New Roman"/>
                <a:ea typeface="Calibri"/>
                <a:cs typeface="Times New Roman"/>
              </a:rPr>
              <a:t>Adjusted the threshold values to add ranges making it easier to isolate the object from its background, whilst testing shape detection as well.</a:t>
            </a:r>
            <a:endParaRPr lang="en-US">
              <a:latin typeface="Times New Roman"/>
              <a:cs typeface="Times New Roman"/>
            </a:endParaRPr>
          </a:p>
          <a:p>
            <a:pPr marL="0" indent="0" algn="l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Discussed CAD designs and how the setup will be implemented, the environment and layout of the project</a:t>
            </a:r>
          </a:p>
          <a:p>
            <a:pPr>
              <a:lnSpc>
                <a:spcPts val="1100"/>
              </a:lnSpc>
            </a:pPr>
            <a:endParaRPr lang="en-US" sz="700">
              <a:solidFill>
                <a:srgbClr val="333333"/>
              </a:solidFill>
              <a:latin typeface="Times New Roman"/>
              <a:cs typeface="Times New Roman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8625" y="1510038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1707189"/>
            <a:ext cx="65" cy="127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650" b="1">
              <a:solidFill>
                <a:srgbClr val="FF5722"/>
              </a:solidFill>
              <a:latin typeface="Inter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8625" y="1904340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3" name="Shape 10"/>
          <p:cNvSpPr/>
          <p:nvPr/>
        </p:nvSpPr>
        <p:spPr>
          <a:xfrm>
            <a:off x="427255" y="2643544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2166" y="2644281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48967" y="2899643"/>
            <a:ext cx="4921753" cy="5539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Trying to implement colour or shape detection on the bolt and nut, some obstacles have been run into due to the colour ranges of a metal being quite large and visual noise because of the background makes it hard to identify the object – it is important to take into consideration changing angles when in a pick and place robot.</a:t>
            </a:r>
            <a:endParaRPr lang="en-US" sz="7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8625" y="2845366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9" name="Text 16"/>
          <p:cNvSpPr/>
          <p:nvPr/>
        </p:nvSpPr>
        <p:spPr>
          <a:xfrm>
            <a:off x="428625" y="2995544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20" name="Shape 17"/>
          <p:cNvSpPr/>
          <p:nvPr/>
        </p:nvSpPr>
        <p:spPr>
          <a:xfrm>
            <a:off x="442913" y="3436820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429516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437344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23" name="Text 20"/>
          <p:cNvSpPr/>
          <p:nvPr/>
        </p:nvSpPr>
        <p:spPr>
          <a:xfrm>
            <a:off x="442913" y="3786863"/>
            <a:ext cx="2108141" cy="13285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US" sz="900">
                <a:solidFill>
                  <a:srgbClr val="4A5568"/>
                </a:solidFill>
                <a:latin typeface="Times New Roman"/>
                <a:ea typeface="Calibri"/>
                <a:cs typeface="Times New Roman"/>
              </a:rPr>
              <a:t>CAD design and shape detection refining.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8625" y="3732586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27" name="Shape 24"/>
          <p:cNvSpPr/>
          <p:nvPr/>
        </p:nvSpPr>
        <p:spPr>
          <a:xfrm>
            <a:off x="5514975" y="643946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522768" y="640915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514975" y="643946"/>
            <a:ext cx="3228975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 (SHOW, DON'T TELL)</a:t>
            </a:r>
            <a:endParaRPr lang="en-US" sz="784"/>
          </a:p>
        </p:txBody>
      </p:sp>
      <p:sp>
        <p:nvSpPr>
          <p:cNvPr id="30" name="Shape 27"/>
          <p:cNvSpPr/>
          <p:nvPr/>
        </p:nvSpPr>
        <p:spPr>
          <a:xfrm>
            <a:off x="5486400" y="1510038"/>
            <a:ext cx="3228975" cy="2524088"/>
          </a:xfrm>
          <a:prstGeom prst="rect">
            <a:avLst/>
          </a:prstGeom>
          <a:solidFill>
            <a:srgbClr val="F9F9F9"/>
          </a:solidFill>
          <a:ln w="18288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79065" y="2048925"/>
            <a:ext cx="223685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486400" y="4177001"/>
            <a:ext cx="3228975" cy="966499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486400" y="4177001"/>
            <a:ext cx="3228975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93556" y="4312732"/>
            <a:ext cx="3014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E651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683"/>
          </a:p>
        </p:txBody>
      </p:sp>
      <p:sp>
        <p:nvSpPr>
          <p:cNvPr id="38" name="Text 35"/>
          <p:cNvSpPr/>
          <p:nvPr/>
        </p:nvSpPr>
        <p:spPr>
          <a:xfrm>
            <a:off x="5593556" y="4502041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39" name="Text 36"/>
          <p:cNvSpPr/>
          <p:nvPr/>
        </p:nvSpPr>
        <p:spPr>
          <a:xfrm>
            <a:off x="5593556" y="4839193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F017F171-5ABA-7FED-BA28-6540C359C231}"/>
              </a:ext>
            </a:extLst>
          </p:cNvPr>
          <p:cNvSpPr/>
          <p:nvPr/>
        </p:nvSpPr>
        <p:spPr>
          <a:xfrm>
            <a:off x="412967" y="2635781"/>
            <a:ext cx="4843463" cy="2694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IN PROGRESS</a:t>
            </a:r>
            <a:endParaRPr lang="en-US" sz="784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177C55-F89F-8E1B-6996-185DC354C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768" y="962384"/>
            <a:ext cx="2358539" cy="132520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0A2B8A-9E99-C18A-0257-C9B0CC7B7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689" y="2300844"/>
            <a:ext cx="1732032" cy="96885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05B815D-DA71-FF41-CF41-6751B2026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2270" y="2285489"/>
            <a:ext cx="1732031" cy="973185"/>
          </a:xfrm>
          <a:prstGeom prst="rect">
            <a:avLst/>
          </a:prstGeom>
        </p:spPr>
      </p:pic>
      <p:sp>
        <p:nvSpPr>
          <p:cNvPr id="45" name="AutoShape 8">
            <a:extLst>
              <a:ext uri="{FF2B5EF4-FFF2-40B4-BE49-F238E27FC236}">
                <a16:creationId xmlns:a16="http://schemas.microsoft.com/office/drawing/2014/main" id="{EF6815CA-200F-E3EE-0096-16B287407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DCD87BE-4081-E5F8-9E7F-59844C9272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6755" y="3315824"/>
            <a:ext cx="1765966" cy="99225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9C43AC2-4EC0-49D0-939D-D57245406B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089" y="3301500"/>
            <a:ext cx="1765966" cy="992252"/>
          </a:xfrm>
          <a:prstGeom prst="rect">
            <a:avLst/>
          </a:prstGeom>
        </p:spPr>
      </p:pic>
      <p:pic>
        <p:nvPicPr>
          <p:cNvPr id="15" name="Picture 14" descr="A drawing of a diagram&#10;&#10;AI-generated content may be incorrect.">
            <a:extLst>
              <a:ext uri="{FF2B5EF4-FFF2-40B4-BE49-F238E27FC236}">
                <a16:creationId xmlns:a16="http://schemas.microsoft.com/office/drawing/2014/main" id="{E15AF054-B4D8-C887-66E4-F952D56289F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874" r="5528" b="1499"/>
          <a:stretch>
            <a:fillRect/>
          </a:stretch>
        </p:blipFill>
        <p:spPr>
          <a:xfrm>
            <a:off x="2990589" y="3561148"/>
            <a:ext cx="2405990" cy="1420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5508" y="-879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3042" y="362328"/>
            <a:ext cx="4664739" cy="327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3: Basel Feras Ghunaim 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895594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895594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895594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885"/>
          </a:p>
        </p:txBody>
      </p:sp>
      <p:sp>
        <p:nvSpPr>
          <p:cNvPr id="7" name="Text 4"/>
          <p:cNvSpPr/>
          <p:nvPr/>
        </p:nvSpPr>
        <p:spPr>
          <a:xfrm>
            <a:off x="428625" y="1315289"/>
            <a:ext cx="4143375" cy="138326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Completed evaluation of motion control strategies (</a:t>
            </a:r>
            <a:r>
              <a:rPr lang="en-US" sz="800" err="1">
                <a:ea typeface="+mn-lt"/>
                <a:cs typeface="+mn-lt"/>
              </a:rPr>
              <a:t>AccelStepper</a:t>
            </a:r>
            <a:r>
              <a:rPr lang="en-US" sz="800">
                <a:ea typeface="+mn-lt"/>
                <a:cs typeface="+mn-lt"/>
              </a:rPr>
              <a:t> vs custom step generation). 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Finalized decision to use stepper motor step-counting with homing as the primary positioning method. 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Conducted detailed analysis of encoder integration options (single encoder, dual encoder, and comparison with motor step tracking). 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Refined hybrid end-effector concept (mechanical gripper + suction cup) and validated feasibility for all target objects. 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Investigated vacuum pump specifications and confirmed suitability of electric vacuum pump over compressed air systems.</a:t>
            </a:r>
          </a:p>
          <a:p>
            <a:pPr marL="0" indent="0" algn="just">
              <a:lnSpc>
                <a:spcPts val="1300"/>
              </a:lnSpc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8625" y="1315289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3" name="Shape 10"/>
          <p:cNvSpPr/>
          <p:nvPr/>
        </p:nvSpPr>
        <p:spPr>
          <a:xfrm>
            <a:off x="4679156" y="89087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89087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79156" y="89087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885"/>
          </a:p>
        </p:txBody>
      </p:sp>
      <p:sp>
        <p:nvSpPr>
          <p:cNvPr id="16" name="Text 13"/>
          <p:cNvSpPr/>
          <p:nvPr/>
        </p:nvSpPr>
        <p:spPr>
          <a:xfrm>
            <a:off x="4679157" y="1310570"/>
            <a:ext cx="4032372" cy="6446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Implementing initial stepper motor control logic and testing basic motion behavior. 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Evaluating potential positioning errors due to gear backlash and belt elasticity. 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Optimizing suction cup placement and integration within the gripper design. 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Reviewing control sequence timing for coordinated pick-and-place operations.</a:t>
            </a:r>
            <a:endParaRPr lang="en-US">
              <a:ea typeface="+mn-lt"/>
              <a:cs typeface="+mn-lt"/>
            </a:endParaRPr>
          </a:p>
          <a:p>
            <a:pPr algn="just">
              <a:lnSpc>
                <a:spcPts val="1300"/>
              </a:lnSpc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19202" y="1318629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9" name="Text 16"/>
          <p:cNvSpPr/>
          <p:nvPr/>
        </p:nvSpPr>
        <p:spPr>
          <a:xfrm>
            <a:off x="4732734" y="1656787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2" name="Text 19"/>
          <p:cNvSpPr/>
          <p:nvPr/>
        </p:nvSpPr>
        <p:spPr>
          <a:xfrm>
            <a:off x="428625" y="3520250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885"/>
          </a:p>
        </p:txBody>
      </p:sp>
      <p:sp>
        <p:nvSpPr>
          <p:cNvPr id="25" name="Text 22"/>
          <p:cNvSpPr/>
          <p:nvPr/>
        </p:nvSpPr>
        <p:spPr>
          <a:xfrm>
            <a:off x="428625" y="393994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6" name="Text 23"/>
          <p:cNvSpPr/>
          <p:nvPr/>
        </p:nvSpPr>
        <p:spPr>
          <a:xfrm>
            <a:off x="421047" y="410274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32" name="Text 29"/>
          <p:cNvSpPr/>
          <p:nvPr/>
        </p:nvSpPr>
        <p:spPr>
          <a:xfrm>
            <a:off x="4679156" y="393994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33" name="Text 30"/>
          <p:cNvSpPr/>
          <p:nvPr/>
        </p:nvSpPr>
        <p:spPr>
          <a:xfrm>
            <a:off x="4674930" y="4254267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B7BDA710-F324-3B9A-9710-A0EB76897EA8}"/>
              </a:ext>
            </a:extLst>
          </p:cNvPr>
          <p:cNvSpPr/>
          <p:nvPr/>
        </p:nvSpPr>
        <p:spPr>
          <a:xfrm>
            <a:off x="431762" y="1623161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4B87A222-9B54-646D-A814-BA55603912B6}"/>
              </a:ext>
            </a:extLst>
          </p:cNvPr>
          <p:cNvSpPr/>
          <p:nvPr/>
        </p:nvSpPr>
        <p:spPr>
          <a:xfrm>
            <a:off x="450056" y="1953420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0566BD4-B742-0886-99DC-9AE7CB7DB887}"/>
              </a:ext>
            </a:extLst>
          </p:cNvPr>
          <p:cNvSpPr/>
          <p:nvPr/>
        </p:nvSpPr>
        <p:spPr>
          <a:xfrm>
            <a:off x="444699" y="2292023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63F8FC43-F0AF-6D1E-874C-A0DACFC03358}"/>
              </a:ext>
            </a:extLst>
          </p:cNvPr>
          <p:cNvSpPr/>
          <p:nvPr/>
        </p:nvSpPr>
        <p:spPr>
          <a:xfrm>
            <a:off x="444699" y="2486174"/>
            <a:ext cx="53578" cy="15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DEA24835-06C4-63B4-7835-F5C442E9EBEF}"/>
              </a:ext>
            </a:extLst>
          </p:cNvPr>
          <p:cNvSpPr/>
          <p:nvPr/>
        </p:nvSpPr>
        <p:spPr>
          <a:xfrm>
            <a:off x="4719202" y="1963309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4B520D02-48BF-20EB-94E5-2D70982829CF}"/>
              </a:ext>
            </a:extLst>
          </p:cNvPr>
          <p:cNvSpPr/>
          <p:nvPr/>
        </p:nvSpPr>
        <p:spPr>
          <a:xfrm>
            <a:off x="4719260" y="2144548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44AEFCCD-43CE-E42B-F9B9-6332F348FFC4}"/>
              </a:ext>
            </a:extLst>
          </p:cNvPr>
          <p:cNvSpPr/>
          <p:nvPr/>
        </p:nvSpPr>
        <p:spPr>
          <a:xfrm>
            <a:off x="421047" y="4281434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79451E0A-E0B5-E081-8937-AF6C2E6553C0}"/>
              </a:ext>
            </a:extLst>
          </p:cNvPr>
          <p:cNvSpPr/>
          <p:nvPr/>
        </p:nvSpPr>
        <p:spPr>
          <a:xfrm>
            <a:off x="421047" y="4441415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56" name="Text 30">
            <a:extLst>
              <a:ext uri="{FF2B5EF4-FFF2-40B4-BE49-F238E27FC236}">
                <a16:creationId xmlns:a16="http://schemas.microsoft.com/office/drawing/2014/main" id="{18CDCCA9-B3C6-DDA8-6E64-3C1BC48071CC}"/>
              </a:ext>
            </a:extLst>
          </p:cNvPr>
          <p:cNvSpPr/>
          <p:nvPr/>
        </p:nvSpPr>
        <p:spPr>
          <a:xfrm>
            <a:off x="4701719" y="460139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pic>
        <p:nvPicPr>
          <p:cNvPr id="8" name="Picture 7" descr="A group of black and silver suction cups&#10;&#10;AI-generated content may be incorrect.">
            <a:extLst>
              <a:ext uri="{FF2B5EF4-FFF2-40B4-BE49-F238E27FC236}">
                <a16:creationId xmlns:a16="http://schemas.microsoft.com/office/drawing/2014/main" id="{E04E1D5E-7E56-97A1-74BE-DE43D9D12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69" y="2650156"/>
            <a:ext cx="3683977" cy="13642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9614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3693319" cy="326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2000" b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MEMBER 4: Ahmed </a:t>
            </a:r>
            <a:r>
              <a:rPr lang="en-US" sz="2000" b="1" err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Alshehhi</a:t>
            </a:r>
            <a:endParaRPr lang="en-US" sz="2016" err="1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292656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292656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885"/>
          </a:p>
        </p:txBody>
      </p:sp>
      <p:sp>
        <p:nvSpPr>
          <p:cNvPr id="7" name="Text 4"/>
          <p:cNvSpPr/>
          <p:nvPr/>
        </p:nvSpPr>
        <p:spPr>
          <a:xfrm>
            <a:off x="428625" y="1712351"/>
            <a:ext cx="3380926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Reviewed research papers and technical resources on robotic gripper design.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449035" y="1943798"/>
            <a:ext cx="4207823" cy="1521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Analyzed different gripper types (mechanical, soft grippers, and vacuum-based systems).</a:t>
            </a:r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2246681"/>
            <a:ext cx="4036219" cy="3729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>
              <a:lnSpc>
                <a:spcPts val="900"/>
              </a:lnSpc>
            </a:pPr>
            <a:endParaRPr lang="en-US" sz="800">
              <a:latin typeface="Aptos"/>
              <a:ea typeface="Inter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8625" y="1712351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2" name="Text 9"/>
          <p:cNvSpPr/>
          <p:nvPr/>
        </p:nvSpPr>
        <p:spPr>
          <a:xfrm>
            <a:off x="428625" y="1943798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3" name="Shape 10"/>
          <p:cNvSpPr/>
          <p:nvPr/>
        </p:nvSpPr>
        <p:spPr>
          <a:xfrm>
            <a:off x="4679156" y="1292656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1292656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79156" y="1292656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885"/>
          </a:p>
        </p:txBody>
      </p:sp>
      <p:sp>
        <p:nvSpPr>
          <p:cNvPr id="16" name="Text 13"/>
          <p:cNvSpPr/>
          <p:nvPr/>
        </p:nvSpPr>
        <p:spPr>
          <a:xfrm>
            <a:off x="4559539" y="1703490"/>
            <a:ext cx="4278607" cy="31887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chemeClr val="accent2"/>
                </a:solidFill>
                <a:ea typeface="+mn-lt"/>
                <a:cs typeface="+mn-lt"/>
              </a:rPr>
              <a:t>• </a:t>
            </a: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Selecting the most suitable gripper design based on object shape, weight, and fragility</a:t>
            </a:r>
            <a:br>
              <a:rPr lang="en-US" sz="800">
                <a:solidFill>
                  <a:srgbClr val="333333"/>
                </a:solidFill>
                <a:ea typeface="+mn-lt"/>
                <a:cs typeface="+mn-lt"/>
              </a:rPr>
            </a:br>
            <a:r>
              <a:rPr lang="en-US" sz="800">
                <a:solidFill>
                  <a:schemeClr val="accent2"/>
                </a:solidFill>
                <a:ea typeface="+mn-lt"/>
                <a:cs typeface="+mn-lt"/>
              </a:rPr>
              <a:t> •</a:t>
            </a: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 Studying methods to control gripping force to ensure safe handling of delicate objects (e.g., egg)</a:t>
            </a:r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79156" y="1943798"/>
            <a:ext cx="65" cy="150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50" b="1">
              <a:solidFill>
                <a:srgbClr val="FF5722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28625" y="360025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60025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60025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28625" y="4019950"/>
            <a:ext cx="2447978" cy="31887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Finalize the gripper design and add it to the CAD model</a:t>
            </a:r>
            <a:br>
              <a:rPr lang="en-US" sz="800">
                <a:solidFill>
                  <a:srgbClr val="333333"/>
                </a:solidFill>
                <a:ea typeface="+mn-lt"/>
                <a:cs typeface="+mn-lt"/>
              </a:rPr>
            </a:br>
            <a:endParaRPr lang="en-US" sz="800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8625" y="4251396"/>
            <a:ext cx="2765372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Begin testing basic gripping concepts using a simple prototype</a:t>
            </a:r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28625" y="4019950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6" name="Text 23"/>
          <p:cNvSpPr/>
          <p:nvPr/>
        </p:nvSpPr>
        <p:spPr>
          <a:xfrm>
            <a:off x="428625" y="425139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7" name="Shape 24"/>
          <p:cNvSpPr/>
          <p:nvPr/>
        </p:nvSpPr>
        <p:spPr>
          <a:xfrm>
            <a:off x="4679156" y="360025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79156" y="360025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79156" y="360025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885"/>
          </a:p>
        </p:txBody>
      </p:sp>
      <p:sp>
        <p:nvSpPr>
          <p:cNvPr id="30" name="Text 27"/>
          <p:cNvSpPr/>
          <p:nvPr/>
        </p:nvSpPr>
        <p:spPr>
          <a:xfrm>
            <a:off x="4679156" y="4019950"/>
            <a:ext cx="171778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679156" y="4251396"/>
            <a:ext cx="171778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679156" y="4019950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33" name="Text 30"/>
          <p:cNvSpPr/>
          <p:nvPr/>
        </p:nvSpPr>
        <p:spPr>
          <a:xfrm>
            <a:off x="4679156" y="4251396"/>
            <a:ext cx="65" cy="150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50" b="1">
              <a:solidFill>
                <a:srgbClr val="FF5722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5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WRAP-UP: WHAT WE NEED FROM THE INSTRUCTOR / STAKEHOLDERS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DECISIONS REQUESTED</a:t>
            </a:r>
            <a:endParaRPr lang="en-US" sz="885"/>
          </a:p>
        </p:txBody>
      </p:sp>
      <p:sp>
        <p:nvSpPr>
          <p:cNvPr id="8" name="Text 5"/>
          <p:cNvSpPr/>
          <p:nvPr/>
        </p:nvSpPr>
        <p:spPr>
          <a:xfrm>
            <a:off x="428625" y="2553528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19646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/ FEEDBACK</a:t>
            </a:r>
            <a:endParaRPr lang="en-US" sz="885"/>
          </a:p>
        </p:txBody>
      </p:sp>
      <p:sp>
        <p:nvSpPr>
          <p:cNvPr id="18" name="Shape 15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1487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FOLLOW-UP</a:t>
            </a:r>
            <a:endParaRPr lang="en-US" sz="885"/>
          </a:p>
        </p:txBody>
      </p:sp>
      <p:sp>
        <p:nvSpPr>
          <p:cNvPr id="22" name="Text 19"/>
          <p:cNvSpPr/>
          <p:nvPr/>
        </p:nvSpPr>
        <p:spPr>
          <a:xfrm>
            <a:off x="4743672" y="1985393"/>
            <a:ext cx="3679231" cy="105945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ea typeface="+mn-lt"/>
              <a:cs typeface="+mn-lt"/>
            </a:endParaRPr>
          </a:p>
          <a:p>
            <a:pPr>
              <a:lnSpc>
                <a:spcPts val="1400"/>
              </a:lnSpc>
            </a:pPr>
            <a:r>
              <a:rPr lang="en-US" sz="800">
                <a:solidFill>
                  <a:schemeClr val="accent2"/>
                </a:solidFill>
                <a:ea typeface="+mn-lt"/>
                <a:cs typeface="+mn-lt"/>
              </a:rPr>
              <a:t>• </a:t>
            </a: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  Begin initial CAD modeling and system integration</a:t>
            </a:r>
            <a:endParaRPr lang="en-US" sz="800">
              <a:solidFill>
                <a:srgbClr val="333333"/>
              </a:solidFill>
              <a:ea typeface="Calibri"/>
              <a:cs typeface="Calibri"/>
            </a:endParaRPr>
          </a:p>
          <a:p>
            <a:pPr>
              <a:lnSpc>
                <a:spcPts val="1400"/>
              </a:lnSpc>
            </a:pPr>
            <a:r>
              <a:rPr lang="en-US" sz="800">
                <a:solidFill>
                  <a:schemeClr val="accent2"/>
                </a:solidFill>
                <a:ea typeface="Calibri"/>
                <a:cs typeface="Calibri"/>
              </a:rPr>
              <a:t>• </a:t>
            </a:r>
            <a:r>
              <a:rPr lang="en-US" sz="800">
                <a:solidFill>
                  <a:srgbClr val="333333"/>
                </a:solidFill>
                <a:ea typeface="Calibri"/>
                <a:cs typeface="Calibri"/>
              </a:rPr>
              <a:t>  Refine and </a:t>
            </a:r>
            <a:r>
              <a:rPr lang="en-US" sz="800" err="1">
                <a:solidFill>
                  <a:srgbClr val="333333"/>
                </a:solidFill>
                <a:ea typeface="Calibri"/>
                <a:cs typeface="Calibri"/>
              </a:rPr>
              <a:t>finalise</a:t>
            </a:r>
            <a:r>
              <a:rPr lang="en-US" sz="800">
                <a:solidFill>
                  <a:srgbClr val="333333"/>
                </a:solidFill>
                <a:ea typeface="Calibri"/>
                <a:cs typeface="Calibri"/>
              </a:rPr>
              <a:t> a vision detection and classification system to identify the objects</a:t>
            </a:r>
          </a:p>
          <a:p>
            <a:pPr>
              <a:lnSpc>
                <a:spcPts val="1400"/>
              </a:lnSpc>
            </a:pPr>
            <a:r>
              <a:rPr lang="en-US" sz="800">
                <a:solidFill>
                  <a:schemeClr val="accent2"/>
                </a:solidFill>
                <a:ea typeface="Calibri"/>
                <a:cs typeface="Calibri"/>
              </a:rPr>
              <a:t>• </a:t>
            </a:r>
            <a:r>
              <a:rPr lang="en-US" sz="800">
                <a:solidFill>
                  <a:srgbClr val="333333"/>
                </a:solidFill>
                <a:ea typeface="Calibri"/>
                <a:cs typeface="Calibri"/>
              </a:rPr>
              <a:t>  Make final decisions on the workspace that the arm will operate in, everything related to size of workspace/</a:t>
            </a:r>
            <a:r>
              <a:rPr lang="en-US" sz="800" err="1">
                <a:solidFill>
                  <a:srgbClr val="333333"/>
                </a:solidFill>
                <a:ea typeface="Calibri"/>
                <a:cs typeface="Calibri"/>
              </a:rPr>
              <a:t>colour</a:t>
            </a:r>
            <a:r>
              <a:rPr lang="en-US" sz="800">
                <a:solidFill>
                  <a:srgbClr val="333333"/>
                </a:solidFill>
                <a:ea typeface="Calibri"/>
                <a:cs typeface="Calibri"/>
              </a:rPr>
              <a:t>, etc.</a:t>
            </a:r>
          </a:p>
        </p:txBody>
      </p:sp>
      <p:sp>
        <p:nvSpPr>
          <p:cNvPr id="23" name="Text 20"/>
          <p:cNvSpPr/>
          <p:nvPr/>
        </p:nvSpPr>
        <p:spPr>
          <a:xfrm>
            <a:off x="4714875" y="2639253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14875" y="3568303"/>
            <a:ext cx="4000500" cy="128944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568303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57750" y="3739753"/>
            <a:ext cx="476092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APPENDIX 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857750" y="39433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57750" y="4200525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57750" y="445770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57750" y="3943350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AD73AC1-3C42-9F63-40ED-CF67B3D236FE}"/>
              </a:ext>
            </a:extLst>
          </p:cNvPr>
          <p:cNvSpPr/>
          <p:nvPr/>
        </p:nvSpPr>
        <p:spPr>
          <a:xfrm>
            <a:off x="4857750" y="40957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0E96E905-36F9-C692-A9BB-2D2C4A18AEAA}"/>
              </a:ext>
            </a:extLst>
          </p:cNvPr>
          <p:cNvSpPr/>
          <p:nvPr/>
        </p:nvSpPr>
        <p:spPr>
          <a:xfrm>
            <a:off x="4857750" y="4095750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6FA2A9-625A-64C5-E8F2-89BCA962C13F}"/>
              </a:ext>
            </a:extLst>
          </p:cNvPr>
          <p:cNvSpPr txBox="1"/>
          <p:nvPr/>
        </p:nvSpPr>
        <p:spPr>
          <a:xfrm>
            <a:off x="425017" y="2024032"/>
            <a:ext cx="400074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Decide and work on the final the design.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Operating procedure 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Electrical architecture 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Software 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Computer vision model strategy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CB6EAA-7561-9951-C6BC-26F7172DEBAF}"/>
              </a:ext>
            </a:extLst>
          </p:cNvPr>
          <p:cNvSpPr txBox="1"/>
          <p:nvPr/>
        </p:nvSpPr>
        <p:spPr>
          <a:xfrm>
            <a:off x="464431" y="3679411"/>
            <a:ext cx="400074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Can we create our own testing roles and conditions to suit our design?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Calibri"/>
              <a:ea typeface="Calibri"/>
              <a:cs typeface="Calibri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Any updates with regards to coming back to the university?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6354FFF6CC942A19C2C083F94702F" ma:contentTypeVersion="15" ma:contentTypeDescription="Create a new document." ma:contentTypeScope="" ma:versionID="51772ab33cecb87251aa33550c28e442">
  <xsd:schema xmlns:xsd="http://www.w3.org/2001/XMLSchema" xmlns:xs="http://www.w3.org/2001/XMLSchema" xmlns:p="http://schemas.microsoft.com/office/2006/metadata/properties" xmlns:ns3="c9c03dcb-1852-45b8-a297-7cb123ff6eff" xmlns:ns4="793d1ae2-586b-4762-bfc6-b6d9cd65cc26" targetNamespace="http://schemas.microsoft.com/office/2006/metadata/properties" ma:root="true" ma:fieldsID="c5de175633f0ecf58f5b9e8331d93e2c" ns3:_="" ns4:_="">
    <xsd:import namespace="c9c03dcb-1852-45b8-a297-7cb123ff6eff"/>
    <xsd:import namespace="793d1ae2-586b-4762-bfc6-b6d9cd65cc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LengthInSeconds" minOccurs="0"/>
                <xsd:element ref="ns4:MediaServiceSearchPropertie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03dcb-1852-45b8-a297-7cb123ff6e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d1ae2-586b-4762-bfc6-b6d9cd65cc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3d1ae2-586b-4762-bfc6-b6d9cd65cc26" xsi:nil="true"/>
  </documentManagement>
</p:properties>
</file>

<file path=customXml/itemProps1.xml><?xml version="1.0" encoding="utf-8"?>
<ds:datastoreItem xmlns:ds="http://schemas.openxmlformats.org/officeDocument/2006/customXml" ds:itemID="{141F096D-F3D9-4AB2-8749-1B5564A99E52}">
  <ds:schemaRefs>
    <ds:schemaRef ds:uri="793d1ae2-586b-4762-bfc6-b6d9cd65cc26"/>
    <ds:schemaRef ds:uri="c9c03dcb-1852-45b8-a297-7cb123ff6e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E42817B-8532-4D50-923B-5326B5BF6E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BF07C3-32F2-4B54-ABEC-F568E42565AD}">
  <ds:schemaRefs>
    <ds:schemaRef ds:uri="793d1ae2-586b-4762-bfc6-b6d9cd65cc26"/>
    <ds:schemaRef ds:uri="c9c03dcb-1852-45b8-a297-7cb123ff6e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2026-03-09T12:39:49Z</dcterms:created>
  <dcterms:modified xsi:type="dcterms:W3CDTF">2026-03-31T14:54:55Z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0x010100B696354FFF6CC942A19C2C083F94702F</vt:lpwstr>
  </property>
</Properties>
</file>