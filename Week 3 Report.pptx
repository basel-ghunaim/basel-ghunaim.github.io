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56" r:id="rId5"/>
    <p:sldId id="257" r:id="rId6"/>
    <p:sldId id="268" r:id="rId7"/>
    <p:sldId id="259" r:id="rId8"/>
    <p:sldId id="260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E9EBD9-D463-40FE-BD93-FFCE422802F7}" v="232" dt="2026-03-10T01:18:59.217"/>
    <p1510:client id="{46C16A8E-8201-4411-933F-D9A1D81E1A0A}" v="39" dt="2026-03-10T00:39:55.479"/>
    <p1510:client id="{734A86FF-8B7D-328C-584A-A47EBDCDA7A3}" v="2163" dt="2026-03-10T00:13:39.926"/>
    <p1510:client id="{75A0A8EE-F47A-CD82-F110-EB66D7392596}" v="1061" dt="2026-03-10T00:34:36.1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31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6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1128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emf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tudentsaduac-my.sharepoint.com/:w:/g/personal/1089042_students_adu_ac_ae/IQARBpffIjuvTpyWARClVW9bAea6LwJ429ddhBODEQaYlCs?e=AGMXr2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studentsaduac-my.sharepoint.com/:w:/g/personal/1088912_students_adu_ac_ae/IQDM1NEOn59JT5MYF2Xon7wwARsXDWbBzHAfZmfA8sJg53g?e=N2WA1E" TargetMode="External"/><Relationship Id="rId5" Type="http://schemas.openxmlformats.org/officeDocument/2006/relationships/hyperlink" Target="https://studentsaduac-my.sharepoint.com/:w:/g/personal/1088912_students_adu_ac_ae/IQArpUra036lRLSYRLjQpyp3AQVrWv51MEQ5WbgqwIR-pQ0?e=UXbxNR" TargetMode="External"/><Relationship Id="rId4" Type="http://schemas.openxmlformats.org/officeDocument/2006/relationships/hyperlink" Target="https://studentsaduac-my.sharepoint.com/:w:/g/personal/1088912_students_adu_ac_ae/IQAWXGur1_ByQLS4_0NlMp20AcTyuvMqQ9nu4SPbL3agS2k?e=IcDLN9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870672"/>
            <a:ext cx="8286750" cy="6018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WEEKLY PROGRESS REPORT</a:t>
            </a:r>
            <a:endParaRPr lang="en-US" sz="3294"/>
          </a:p>
        </p:txBody>
      </p:sp>
      <p:sp>
        <p:nvSpPr>
          <p:cNvPr id="4" name="Text 1"/>
          <p:cNvSpPr/>
          <p:nvPr/>
        </p:nvSpPr>
        <p:spPr>
          <a:xfrm>
            <a:off x="268605" y="1482315"/>
            <a:ext cx="5976188" cy="23230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>
                <a:solidFill>
                  <a:srgbClr val="33333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Mechatronic System Design (MEC483) – Course Project</a:t>
            </a:r>
            <a:endParaRPr lang="en-US" sz="1486"/>
          </a:p>
        </p:txBody>
      </p:sp>
      <p:sp>
        <p:nvSpPr>
          <p:cNvPr id="6" name="Text 3"/>
          <p:cNvSpPr/>
          <p:nvPr/>
        </p:nvSpPr>
        <p:spPr>
          <a:xfrm>
            <a:off x="428625" y="3925491"/>
            <a:ext cx="407193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PROJECT / PHASE</a:t>
            </a:r>
            <a:endParaRPr lang="en-US" sz="683"/>
          </a:p>
        </p:txBody>
      </p:sp>
      <p:sp>
        <p:nvSpPr>
          <p:cNvPr id="7" name="Text 4"/>
          <p:cNvSpPr/>
          <p:nvPr/>
        </p:nvSpPr>
        <p:spPr>
          <a:xfrm>
            <a:off x="428625" y="4093369"/>
            <a:ext cx="2024593" cy="170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Pick and Place Robot / Phase 2</a:t>
            </a:r>
            <a:endParaRPr lang="en-US" sz="1050"/>
          </a:p>
        </p:txBody>
      </p:sp>
      <p:sp>
        <p:nvSpPr>
          <p:cNvPr id="8" name="Text 5"/>
          <p:cNvSpPr/>
          <p:nvPr/>
        </p:nvSpPr>
        <p:spPr>
          <a:xfrm>
            <a:off x="4643438" y="3925491"/>
            <a:ext cx="407193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DATE RANGE</a:t>
            </a:r>
            <a:endParaRPr lang="en-US" sz="683"/>
          </a:p>
        </p:txBody>
      </p:sp>
      <p:sp>
        <p:nvSpPr>
          <p:cNvPr id="9" name="Text 6"/>
          <p:cNvSpPr/>
          <p:nvPr/>
        </p:nvSpPr>
        <p:spPr>
          <a:xfrm>
            <a:off x="4643438" y="4093369"/>
            <a:ext cx="1229504" cy="170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3/3/2026 – 10/3/2026</a:t>
            </a:r>
            <a:endParaRPr lang="en-US" sz="1050"/>
          </a:p>
        </p:txBody>
      </p:sp>
      <p:sp>
        <p:nvSpPr>
          <p:cNvPr id="10" name="Text 7"/>
          <p:cNvSpPr/>
          <p:nvPr/>
        </p:nvSpPr>
        <p:spPr>
          <a:xfrm>
            <a:off x="428625" y="4509492"/>
            <a:ext cx="407193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TEAM MEMBERS</a:t>
            </a:r>
            <a:endParaRPr lang="en-US" sz="683"/>
          </a:p>
        </p:txBody>
      </p:sp>
      <p:sp>
        <p:nvSpPr>
          <p:cNvPr id="11" name="Text 8"/>
          <p:cNvSpPr/>
          <p:nvPr/>
        </p:nvSpPr>
        <p:spPr>
          <a:xfrm>
            <a:off x="428625" y="4677370"/>
            <a:ext cx="8329203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1050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Maher Abo Abed (1087993) , Sabeeha </a:t>
            </a: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Zainab </a:t>
            </a:r>
            <a:r>
              <a:rPr lang="en-US" sz="1050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Hasham (1089042), Basel Feras </a:t>
            </a:r>
            <a:r>
              <a:rPr lang="en-US" sz="1050" err="1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Ghunaim</a:t>
            </a:r>
            <a:r>
              <a:rPr lang="en-US" sz="1050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  (1088912), Ahmad Nasser </a:t>
            </a:r>
            <a:r>
              <a:rPr lang="en-US" sz="1050" err="1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Alshehhi</a:t>
            </a:r>
            <a:r>
              <a:rPr lang="en-US" sz="1050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 (1090882)</a:t>
            </a:r>
            <a:endParaRPr lang="en-US" sz="1050">
              <a:latin typeface="Inter"/>
              <a:ea typeface="Inter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D61D1B-B582-DFBF-FDF9-68A8A5F66518}"/>
              </a:ext>
            </a:extLst>
          </p:cNvPr>
          <p:cNvSpPr/>
          <p:nvPr/>
        </p:nvSpPr>
        <p:spPr>
          <a:xfrm>
            <a:off x="4572000" y="4373880"/>
            <a:ext cx="4143376" cy="1321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0006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65792"/>
            <a:ext cx="8286750" cy="3768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HOW ARE WE DOING THIS WEEK?</a:t>
            </a:r>
            <a:endParaRPr lang="en-US" sz="2016"/>
          </a:p>
        </p:txBody>
      </p:sp>
      <p:sp>
        <p:nvSpPr>
          <p:cNvPr id="4" name="Shape 1"/>
          <p:cNvSpPr/>
          <p:nvPr/>
        </p:nvSpPr>
        <p:spPr>
          <a:xfrm>
            <a:off x="428625" y="1221218"/>
            <a:ext cx="2666991" cy="283964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8625" y="1221218"/>
            <a:ext cx="2666991" cy="28396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TOP WINS (MAX 3)</a:t>
            </a:r>
            <a:endParaRPr lang="en-US" sz="885"/>
          </a:p>
        </p:txBody>
      </p:sp>
      <p:sp>
        <p:nvSpPr>
          <p:cNvPr id="6" name="Text 3"/>
          <p:cNvSpPr/>
          <p:nvPr/>
        </p:nvSpPr>
        <p:spPr>
          <a:xfrm>
            <a:off x="428625" y="1590908"/>
            <a:ext cx="2666991" cy="55726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just">
              <a:lnSpc>
                <a:spcPts val="1100"/>
              </a:lnSpc>
              <a:buNone/>
            </a:pPr>
            <a:r>
              <a:rPr lang="en-US" sz="834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1: Made decisions on some major components (Computer vision, electrical actuators, displacement sensors) of the system through a systematic and objective procedure.</a:t>
            </a:r>
            <a:endParaRPr lang="en-US" sz="834"/>
          </a:p>
        </p:txBody>
      </p:sp>
      <p:sp>
        <p:nvSpPr>
          <p:cNvPr id="7" name="Text 4"/>
          <p:cNvSpPr/>
          <p:nvPr/>
        </p:nvSpPr>
        <p:spPr>
          <a:xfrm>
            <a:off x="431601" y="2236181"/>
            <a:ext cx="2666991" cy="55726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just">
              <a:lnSpc>
                <a:spcPts val="1100"/>
              </a:lnSpc>
              <a:buNone/>
            </a:pPr>
            <a:r>
              <a:rPr lang="en-US" sz="834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2: Tested popular computer vision pretrained models to check for their computability such YOLOv3  andYOLOv4 through MATLABs Computer Vision and Deep Learning Toolboxes, along with the laptop’s built-in camera.</a:t>
            </a:r>
            <a:endParaRPr lang="en-US" sz="834"/>
          </a:p>
        </p:txBody>
      </p:sp>
      <p:sp>
        <p:nvSpPr>
          <p:cNvPr id="9" name="Text 6"/>
          <p:cNvSpPr/>
          <p:nvPr/>
        </p:nvSpPr>
        <p:spPr>
          <a:xfrm>
            <a:off x="428625" y="1590908"/>
            <a:ext cx="5357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10" name="Text 7"/>
          <p:cNvSpPr/>
          <p:nvPr/>
        </p:nvSpPr>
        <p:spPr>
          <a:xfrm>
            <a:off x="431601" y="2236181"/>
            <a:ext cx="5357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11" name="Text 8"/>
          <p:cNvSpPr/>
          <p:nvPr/>
        </p:nvSpPr>
        <p:spPr>
          <a:xfrm>
            <a:off x="421435" y="2933185"/>
            <a:ext cx="5357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12" name="Shape 9"/>
          <p:cNvSpPr/>
          <p:nvPr/>
        </p:nvSpPr>
        <p:spPr>
          <a:xfrm>
            <a:off x="3238491" y="1221218"/>
            <a:ext cx="2666991" cy="283964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238491" y="1221218"/>
            <a:ext cx="2666991" cy="28396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KEY BLOCKERS / RISKS (MAX 3)</a:t>
            </a:r>
            <a:endParaRPr lang="en-US" sz="885"/>
          </a:p>
        </p:txBody>
      </p:sp>
      <p:sp>
        <p:nvSpPr>
          <p:cNvPr id="15" name="Text 12"/>
          <p:cNvSpPr/>
          <p:nvPr/>
        </p:nvSpPr>
        <p:spPr>
          <a:xfrm>
            <a:off x="3184942" y="2158648"/>
            <a:ext cx="2673529" cy="13407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just">
              <a:lnSpc>
                <a:spcPts val="1100"/>
              </a:lnSpc>
              <a:buNone/>
            </a:pPr>
            <a:endParaRPr lang="en-US" sz="834"/>
          </a:p>
        </p:txBody>
      </p:sp>
      <p:sp>
        <p:nvSpPr>
          <p:cNvPr id="17" name="Text 14"/>
          <p:cNvSpPr/>
          <p:nvPr/>
        </p:nvSpPr>
        <p:spPr>
          <a:xfrm>
            <a:off x="3238491" y="1590908"/>
            <a:ext cx="5357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18" name="Text 15"/>
          <p:cNvSpPr/>
          <p:nvPr/>
        </p:nvSpPr>
        <p:spPr>
          <a:xfrm>
            <a:off x="3219416" y="2173848"/>
            <a:ext cx="5357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19" name="Text 16"/>
          <p:cNvSpPr/>
          <p:nvPr/>
        </p:nvSpPr>
        <p:spPr>
          <a:xfrm>
            <a:off x="3238491" y="2795252"/>
            <a:ext cx="65" cy="132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784"/>
          </a:p>
        </p:txBody>
      </p:sp>
      <p:sp>
        <p:nvSpPr>
          <p:cNvPr id="20" name="Shape 17"/>
          <p:cNvSpPr/>
          <p:nvPr/>
        </p:nvSpPr>
        <p:spPr>
          <a:xfrm>
            <a:off x="6048356" y="1221218"/>
            <a:ext cx="2667019" cy="283964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048356" y="1221218"/>
            <a:ext cx="2667019" cy="28396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PROJECT HEALTH</a:t>
            </a:r>
            <a:endParaRPr lang="en-US" sz="885"/>
          </a:p>
        </p:txBody>
      </p:sp>
      <p:sp>
        <p:nvSpPr>
          <p:cNvPr id="22" name="Text 19"/>
          <p:cNvSpPr/>
          <p:nvPr/>
        </p:nvSpPr>
        <p:spPr>
          <a:xfrm>
            <a:off x="6291244" y="1648058"/>
            <a:ext cx="264496" cy="109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Roboto Mono" pitchFamily="34" charset="0"/>
                <a:ea typeface="Roboto Mono" pitchFamily="34" charset="-122"/>
              </a:rPr>
              <a:t>Scope</a:t>
            </a:r>
            <a:endParaRPr lang="en-US" sz="683"/>
          </a:p>
        </p:txBody>
      </p:sp>
      <p:sp>
        <p:nvSpPr>
          <p:cNvPr id="23" name="Text 20"/>
          <p:cNvSpPr/>
          <p:nvPr/>
        </p:nvSpPr>
        <p:spPr>
          <a:xfrm>
            <a:off x="8007406" y="1653415"/>
            <a:ext cx="650819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>
                <a:solidFill>
                  <a:srgbClr val="666666"/>
                </a:solidFill>
                <a:latin typeface="Inter" pitchFamily="34" charset="0"/>
                <a:ea typeface="Inter" pitchFamily="34" charset="-122"/>
              </a:rPr>
              <a:t>Under Execution</a:t>
            </a:r>
            <a:endParaRPr lang="en-US" sz="727"/>
          </a:p>
        </p:txBody>
      </p:sp>
      <p:sp>
        <p:nvSpPr>
          <p:cNvPr id="24" name="Text 21"/>
          <p:cNvSpPr/>
          <p:nvPr/>
        </p:nvSpPr>
        <p:spPr>
          <a:xfrm>
            <a:off x="6291244" y="1987386"/>
            <a:ext cx="423193" cy="109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Roboto Mono" pitchFamily="34" charset="0"/>
                <a:ea typeface="Roboto Mono" pitchFamily="34" charset="-122"/>
              </a:rPr>
              <a:t>Schedule</a:t>
            </a:r>
            <a:endParaRPr lang="en-US" sz="683"/>
          </a:p>
        </p:txBody>
      </p:sp>
      <p:sp>
        <p:nvSpPr>
          <p:cNvPr id="25" name="Text 22"/>
          <p:cNvSpPr/>
          <p:nvPr/>
        </p:nvSpPr>
        <p:spPr>
          <a:xfrm>
            <a:off x="8047481" y="1992743"/>
            <a:ext cx="610744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Potential Delays</a:t>
            </a:r>
            <a:endParaRPr lang="en-US" sz="727"/>
          </a:p>
        </p:txBody>
      </p:sp>
      <p:sp>
        <p:nvSpPr>
          <p:cNvPr id="26" name="Text 23"/>
          <p:cNvSpPr/>
          <p:nvPr/>
        </p:nvSpPr>
        <p:spPr>
          <a:xfrm>
            <a:off x="6291244" y="2326714"/>
            <a:ext cx="1322478" cy="109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Roboto Mono" pitchFamily="34" charset="0"/>
                <a:ea typeface="Roboto Mono" pitchFamily="34" charset="-122"/>
              </a:rPr>
              <a:t>Fabrication &amp; Prototyping</a:t>
            </a:r>
            <a:endParaRPr lang="en-US" sz="683"/>
          </a:p>
        </p:txBody>
      </p:sp>
      <p:sp>
        <p:nvSpPr>
          <p:cNvPr id="27" name="Text 24"/>
          <p:cNvSpPr/>
          <p:nvPr/>
        </p:nvSpPr>
        <p:spPr>
          <a:xfrm>
            <a:off x="8371287" y="2332072"/>
            <a:ext cx="286938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Halt</a:t>
            </a:r>
            <a:endParaRPr lang="en-US" sz="727"/>
          </a:p>
        </p:txBody>
      </p:sp>
      <p:sp>
        <p:nvSpPr>
          <p:cNvPr id="28" name="Shape 25"/>
          <p:cNvSpPr/>
          <p:nvPr/>
        </p:nvSpPr>
        <p:spPr>
          <a:xfrm>
            <a:off x="6048356" y="2723192"/>
            <a:ext cx="2667019" cy="519708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048356" y="2723192"/>
            <a:ext cx="2667019" cy="28575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134081" y="2808917"/>
            <a:ext cx="493725" cy="964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>
                <a:solidFill>
                  <a:srgbClr val="66666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OPEN ISSUES</a:t>
            </a:r>
            <a:endParaRPr lang="en-US" sz="584"/>
          </a:p>
        </p:txBody>
      </p:sp>
      <p:sp>
        <p:nvSpPr>
          <p:cNvPr id="31" name="Text 28"/>
          <p:cNvSpPr/>
          <p:nvPr/>
        </p:nvSpPr>
        <p:spPr>
          <a:xfrm>
            <a:off x="6134081" y="2921431"/>
            <a:ext cx="508152" cy="194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>
                <a:solidFill>
                  <a:srgbClr val="000000"/>
                </a:solidFill>
                <a:latin typeface="Inter" pitchFamily="34" charset="0"/>
                <a:ea typeface="Inter" pitchFamily="34" charset="-122"/>
              </a:rPr>
              <a:t>3 Active</a:t>
            </a:r>
            <a:endParaRPr lang="en-US" sz="1193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90450E-4201-CE57-A6A0-328972B45170}"/>
              </a:ext>
            </a:extLst>
          </p:cNvPr>
          <p:cNvSpPr txBox="1"/>
          <p:nvPr/>
        </p:nvSpPr>
        <p:spPr>
          <a:xfrm>
            <a:off x="504184" y="2874423"/>
            <a:ext cx="2715221" cy="10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ts val="1100"/>
              </a:lnSpc>
              <a:defRPr/>
            </a:pPr>
            <a:r>
              <a:rPr lang="en-US" sz="834">
                <a:solidFill>
                  <a:srgbClr val="333333"/>
                </a:solidFill>
                <a:latin typeface="Inter"/>
              </a:rPr>
              <a:t>Win 3: Explored the potential use of the </a:t>
            </a:r>
            <a:r>
              <a:rPr lang="en-US" sz="834" err="1">
                <a:solidFill>
                  <a:srgbClr val="333333"/>
                </a:solidFill>
                <a:latin typeface="Inter"/>
              </a:rPr>
              <a:t>AccelStepper</a:t>
            </a:r>
            <a:r>
              <a:rPr lang="en-US" sz="834">
                <a:solidFill>
                  <a:srgbClr val="333333"/>
                </a:solidFill>
                <a:latin typeface="Inter"/>
              </a:rPr>
              <a:t> library to simplify stepper motor control and improve motion smoothness, as it can handle acceleration and deceleration profiles, timing of step pulses, internal software-based step counting, and non-blocking control for multiple motors. </a:t>
            </a:r>
          </a:p>
          <a:p>
            <a:pPr marL="0" marR="0" lvl="0" indent="0" algn="just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3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C2AC5C4-3CA8-D873-3682-F0F2B35AEBB2}"/>
              </a:ext>
            </a:extLst>
          </p:cNvPr>
          <p:cNvSpPr/>
          <p:nvPr/>
        </p:nvSpPr>
        <p:spPr>
          <a:xfrm>
            <a:off x="6101497" y="2339672"/>
            <a:ext cx="116681" cy="103584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 11">
            <a:extLst>
              <a:ext uri="{FF2B5EF4-FFF2-40B4-BE49-F238E27FC236}">
                <a16:creationId xmlns:a16="http://schemas.microsoft.com/office/drawing/2014/main" id="{B904E1CA-AFB9-0C1C-6E77-B409D5BA7E19}"/>
              </a:ext>
            </a:extLst>
          </p:cNvPr>
          <p:cNvSpPr/>
          <p:nvPr/>
        </p:nvSpPr>
        <p:spPr>
          <a:xfrm>
            <a:off x="3178943" y="2158648"/>
            <a:ext cx="2660453" cy="41620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just">
              <a:lnSpc>
                <a:spcPts val="1100"/>
              </a:lnSpc>
            </a:pPr>
            <a:r>
              <a:rPr lang="en-US" sz="834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Blocker 2: Uncertainty around university campus operation status and course delivery method has hindered communications and work progress.</a:t>
            </a:r>
          </a:p>
        </p:txBody>
      </p:sp>
      <p:sp>
        <p:nvSpPr>
          <p:cNvPr id="55" name="Text 11">
            <a:extLst>
              <a:ext uri="{FF2B5EF4-FFF2-40B4-BE49-F238E27FC236}">
                <a16:creationId xmlns:a16="http://schemas.microsoft.com/office/drawing/2014/main" id="{D96B0797-6252-FE3B-64CC-E16C463A4C98}"/>
              </a:ext>
            </a:extLst>
          </p:cNvPr>
          <p:cNvSpPr/>
          <p:nvPr/>
        </p:nvSpPr>
        <p:spPr>
          <a:xfrm>
            <a:off x="3178942" y="1599495"/>
            <a:ext cx="2660453" cy="55726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just">
              <a:lnSpc>
                <a:spcPts val="1100"/>
              </a:lnSpc>
            </a:pPr>
            <a:r>
              <a:rPr lang="en-US" sz="834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Blocker 1: No access to the university facility due to the ongoing regional situation ; access is needed to 3D print parts and begin with testing and prototyping</a:t>
            </a:r>
            <a:r>
              <a:rPr lang="en-US" sz="834" b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</a:p>
          <a:p>
            <a:pPr algn="just">
              <a:lnSpc>
                <a:spcPts val="1100"/>
              </a:lnSpc>
            </a:pPr>
            <a:endParaRPr lang="en-US" sz="834">
              <a:solidFill>
                <a:srgbClr val="333333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1BA01D09-90BA-73C4-8104-BDE3027E6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25"/>
            <a:ext cx="9144000" cy="51435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</p:pic>
      <p:sp>
        <p:nvSpPr>
          <p:cNvPr id="6" name="Shape 4">
            <a:extLst>
              <a:ext uri="{FF2B5EF4-FFF2-40B4-BE49-F238E27FC236}">
                <a16:creationId xmlns:a16="http://schemas.microsoft.com/office/drawing/2014/main" id="{54E75E40-2C2C-E38D-3CBE-4333A52C91C2}"/>
              </a:ext>
            </a:extLst>
          </p:cNvPr>
          <p:cNvSpPr/>
          <p:nvPr/>
        </p:nvSpPr>
        <p:spPr>
          <a:xfrm>
            <a:off x="396049" y="1141349"/>
            <a:ext cx="2514600" cy="292608"/>
          </a:xfrm>
          <a:prstGeom prst="rect">
            <a:avLst/>
          </a:prstGeom>
          <a:solidFill>
            <a:schemeClr val="tx1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E2A8665-2C6E-AB2D-A2EB-2872068B1FEA}"/>
              </a:ext>
            </a:extLst>
          </p:cNvPr>
          <p:cNvSpPr/>
          <p:nvPr/>
        </p:nvSpPr>
        <p:spPr>
          <a:xfrm>
            <a:off x="441769" y="1141349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FFFFFF"/>
                </a:solidFill>
              </a:rPr>
              <a:t>Task / Phase</a:t>
            </a:r>
            <a:endParaRPr lang="en-US" sz="8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D843D04-A760-7D53-1D63-CA299A94945A}"/>
              </a:ext>
            </a:extLst>
          </p:cNvPr>
          <p:cNvSpPr/>
          <p:nvPr/>
        </p:nvSpPr>
        <p:spPr>
          <a:xfrm>
            <a:off x="2956369" y="1141349"/>
            <a:ext cx="475488" cy="292608"/>
          </a:xfrm>
          <a:prstGeom prst="rect">
            <a:avLst/>
          </a:prstGeom>
          <a:solidFill>
            <a:schemeClr val="tx1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18756DF-04BA-9B7F-1E0B-ABB0DC4B07B7}"/>
              </a:ext>
            </a:extLst>
          </p:cNvPr>
          <p:cNvSpPr/>
          <p:nvPr/>
        </p:nvSpPr>
        <p:spPr>
          <a:xfrm>
            <a:off x="2956369" y="1141349"/>
            <a:ext cx="475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W1</a:t>
            </a:r>
            <a:endParaRPr lang="en-US" sz="7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8BE9D47-ED5C-1FB3-96B5-5DF0F2194B98}"/>
              </a:ext>
            </a:extLst>
          </p:cNvPr>
          <p:cNvSpPr/>
          <p:nvPr/>
        </p:nvSpPr>
        <p:spPr>
          <a:xfrm>
            <a:off x="3431857" y="1141349"/>
            <a:ext cx="475488" cy="292608"/>
          </a:xfrm>
          <a:prstGeom prst="rect">
            <a:avLst/>
          </a:prstGeom>
          <a:solidFill>
            <a:schemeClr val="accent2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88B0F04-EEF0-5BCC-109D-F61BE99647FE}"/>
              </a:ext>
            </a:extLst>
          </p:cNvPr>
          <p:cNvSpPr/>
          <p:nvPr/>
        </p:nvSpPr>
        <p:spPr>
          <a:xfrm>
            <a:off x="3431857" y="1141349"/>
            <a:ext cx="475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W2</a:t>
            </a:r>
            <a:endParaRPr lang="en-US" sz="7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3E868C1-13B2-8A69-06B3-917EA02D6883}"/>
              </a:ext>
            </a:extLst>
          </p:cNvPr>
          <p:cNvSpPr/>
          <p:nvPr/>
        </p:nvSpPr>
        <p:spPr>
          <a:xfrm>
            <a:off x="3907345" y="1141349"/>
            <a:ext cx="475488" cy="292608"/>
          </a:xfrm>
          <a:prstGeom prst="rect">
            <a:avLst/>
          </a:prstGeom>
          <a:solidFill>
            <a:schemeClr val="tx1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2492B4F-B0D4-E19D-F8A5-548616F3BB68}"/>
              </a:ext>
            </a:extLst>
          </p:cNvPr>
          <p:cNvSpPr/>
          <p:nvPr/>
        </p:nvSpPr>
        <p:spPr>
          <a:xfrm>
            <a:off x="3907345" y="1141349"/>
            <a:ext cx="475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W3</a:t>
            </a:r>
            <a:endParaRPr lang="en-US" sz="7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5C8A6CF-E367-6C2A-17DA-2A390BE9FA64}"/>
              </a:ext>
            </a:extLst>
          </p:cNvPr>
          <p:cNvSpPr/>
          <p:nvPr/>
        </p:nvSpPr>
        <p:spPr>
          <a:xfrm>
            <a:off x="4382833" y="1141349"/>
            <a:ext cx="475488" cy="292608"/>
          </a:xfrm>
          <a:prstGeom prst="rect">
            <a:avLst/>
          </a:prstGeom>
          <a:solidFill>
            <a:schemeClr val="tx1"/>
          </a:solidFill>
          <a:ln w="12700">
            <a:solidFill>
              <a:srgbClr val="38B2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37B8C8A-7624-2D1D-82BB-84F5407952FD}"/>
              </a:ext>
            </a:extLst>
          </p:cNvPr>
          <p:cNvSpPr/>
          <p:nvPr/>
        </p:nvSpPr>
        <p:spPr>
          <a:xfrm>
            <a:off x="4382833" y="1141349"/>
            <a:ext cx="475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W4</a:t>
            </a:r>
            <a:endParaRPr lang="en-US" sz="7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642EC8D-7478-FCF7-C96E-56EEC0B8E2A3}"/>
              </a:ext>
            </a:extLst>
          </p:cNvPr>
          <p:cNvSpPr/>
          <p:nvPr/>
        </p:nvSpPr>
        <p:spPr>
          <a:xfrm>
            <a:off x="4858321" y="1141349"/>
            <a:ext cx="475488" cy="292608"/>
          </a:xfrm>
          <a:prstGeom prst="rect">
            <a:avLst/>
          </a:prstGeom>
          <a:solidFill>
            <a:schemeClr val="tx1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1C64CC1-7964-F8B3-2D4C-0D5181B95051}"/>
              </a:ext>
            </a:extLst>
          </p:cNvPr>
          <p:cNvSpPr/>
          <p:nvPr/>
        </p:nvSpPr>
        <p:spPr>
          <a:xfrm>
            <a:off x="4858321" y="1141349"/>
            <a:ext cx="475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W5</a:t>
            </a:r>
            <a:endParaRPr lang="en-US" sz="7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4124A19-7F51-8AAF-691A-3A94227C4C81}"/>
              </a:ext>
            </a:extLst>
          </p:cNvPr>
          <p:cNvSpPr/>
          <p:nvPr/>
        </p:nvSpPr>
        <p:spPr>
          <a:xfrm>
            <a:off x="5333809" y="1141349"/>
            <a:ext cx="475488" cy="292608"/>
          </a:xfrm>
          <a:prstGeom prst="rect">
            <a:avLst/>
          </a:prstGeom>
          <a:solidFill>
            <a:schemeClr val="tx1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F76EDAF-89A5-90BF-BFB0-C07B69B9519A}"/>
              </a:ext>
            </a:extLst>
          </p:cNvPr>
          <p:cNvSpPr/>
          <p:nvPr/>
        </p:nvSpPr>
        <p:spPr>
          <a:xfrm>
            <a:off x="5333809" y="1141349"/>
            <a:ext cx="475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W6</a:t>
            </a:r>
            <a:endParaRPr lang="en-US" sz="70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326DBFD8-0EB0-B721-5669-5B6F5D5056AD}"/>
              </a:ext>
            </a:extLst>
          </p:cNvPr>
          <p:cNvSpPr/>
          <p:nvPr/>
        </p:nvSpPr>
        <p:spPr>
          <a:xfrm>
            <a:off x="5809297" y="1141349"/>
            <a:ext cx="475488" cy="292608"/>
          </a:xfrm>
          <a:prstGeom prst="rect">
            <a:avLst/>
          </a:prstGeom>
          <a:solidFill>
            <a:schemeClr val="tx1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A6E70FD-9866-8CFE-0F60-AC2593A8C574}"/>
              </a:ext>
            </a:extLst>
          </p:cNvPr>
          <p:cNvSpPr/>
          <p:nvPr/>
        </p:nvSpPr>
        <p:spPr>
          <a:xfrm>
            <a:off x="5809297" y="1141349"/>
            <a:ext cx="475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W7</a:t>
            </a:r>
            <a:endParaRPr lang="en-US" sz="70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E673AC5-87B4-5712-8869-FCC3D2C7E583}"/>
              </a:ext>
            </a:extLst>
          </p:cNvPr>
          <p:cNvSpPr/>
          <p:nvPr/>
        </p:nvSpPr>
        <p:spPr>
          <a:xfrm>
            <a:off x="6284785" y="1141349"/>
            <a:ext cx="475488" cy="292608"/>
          </a:xfrm>
          <a:prstGeom prst="rect">
            <a:avLst/>
          </a:prstGeom>
          <a:solidFill>
            <a:schemeClr val="tx1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393696A-1830-CC6D-65AA-1F84D0FE1232}"/>
              </a:ext>
            </a:extLst>
          </p:cNvPr>
          <p:cNvSpPr/>
          <p:nvPr/>
        </p:nvSpPr>
        <p:spPr>
          <a:xfrm>
            <a:off x="6284785" y="1141349"/>
            <a:ext cx="475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W8</a:t>
            </a:r>
            <a:endParaRPr lang="en-US" sz="70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D5AECDB3-0CE5-C907-9FE7-A89E3FAA96B7}"/>
              </a:ext>
            </a:extLst>
          </p:cNvPr>
          <p:cNvSpPr/>
          <p:nvPr/>
        </p:nvSpPr>
        <p:spPr>
          <a:xfrm>
            <a:off x="6760273" y="1141349"/>
            <a:ext cx="475488" cy="292608"/>
          </a:xfrm>
          <a:prstGeom prst="rect">
            <a:avLst/>
          </a:prstGeom>
          <a:solidFill>
            <a:schemeClr val="tx1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934A9FC-8F33-D4CC-19F8-61BF358A5BC8}"/>
              </a:ext>
            </a:extLst>
          </p:cNvPr>
          <p:cNvSpPr/>
          <p:nvPr/>
        </p:nvSpPr>
        <p:spPr>
          <a:xfrm>
            <a:off x="6760273" y="1141349"/>
            <a:ext cx="475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W9</a:t>
            </a:r>
            <a:endParaRPr lang="en-US" sz="70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97A3957C-2531-DFCE-9CA7-E1D25DF1AD43}"/>
              </a:ext>
            </a:extLst>
          </p:cNvPr>
          <p:cNvSpPr/>
          <p:nvPr/>
        </p:nvSpPr>
        <p:spPr>
          <a:xfrm>
            <a:off x="7235761" y="1141349"/>
            <a:ext cx="475488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4386C4AE-1397-7F2B-EB9B-F9BF632CFBCD}"/>
              </a:ext>
            </a:extLst>
          </p:cNvPr>
          <p:cNvSpPr/>
          <p:nvPr/>
        </p:nvSpPr>
        <p:spPr>
          <a:xfrm>
            <a:off x="7235761" y="1141349"/>
            <a:ext cx="475488" cy="292608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W10</a:t>
            </a:r>
            <a:endParaRPr lang="en-US" sz="70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E58B3399-68E6-DE2C-864C-B10366DC3687}"/>
              </a:ext>
            </a:extLst>
          </p:cNvPr>
          <p:cNvSpPr/>
          <p:nvPr/>
        </p:nvSpPr>
        <p:spPr>
          <a:xfrm>
            <a:off x="7711249" y="1141349"/>
            <a:ext cx="475488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98B1FDAF-FB50-BD69-BC95-B76CF4D6B8E1}"/>
              </a:ext>
            </a:extLst>
          </p:cNvPr>
          <p:cNvSpPr/>
          <p:nvPr/>
        </p:nvSpPr>
        <p:spPr>
          <a:xfrm>
            <a:off x="7711249" y="1141349"/>
            <a:ext cx="475488" cy="292608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W11</a:t>
            </a:r>
            <a:endParaRPr lang="en-US" sz="70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BF92CD8E-C228-7FB9-98A3-2E52E6920F03}"/>
              </a:ext>
            </a:extLst>
          </p:cNvPr>
          <p:cNvSpPr/>
          <p:nvPr/>
        </p:nvSpPr>
        <p:spPr>
          <a:xfrm>
            <a:off x="8186737" y="1141349"/>
            <a:ext cx="475488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7E9A9A8B-7815-DB69-6694-C44161B0E252}"/>
              </a:ext>
            </a:extLst>
          </p:cNvPr>
          <p:cNvSpPr/>
          <p:nvPr/>
        </p:nvSpPr>
        <p:spPr>
          <a:xfrm>
            <a:off x="8186737" y="1141349"/>
            <a:ext cx="475488" cy="292608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W12</a:t>
            </a:r>
            <a:endParaRPr lang="en-US" sz="70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415B79D1-EBBE-7801-4227-9BC324171533}"/>
              </a:ext>
            </a:extLst>
          </p:cNvPr>
          <p:cNvSpPr/>
          <p:nvPr/>
        </p:nvSpPr>
        <p:spPr>
          <a:xfrm>
            <a:off x="396049" y="1433957"/>
            <a:ext cx="2514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8801B9FC-32A5-6091-3448-410495578B42}"/>
              </a:ext>
            </a:extLst>
          </p:cNvPr>
          <p:cNvSpPr/>
          <p:nvPr/>
        </p:nvSpPr>
        <p:spPr>
          <a:xfrm>
            <a:off x="487489" y="1433957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4A5568"/>
                </a:solidFill>
              </a:rPr>
              <a:t>System Definition and Primary Sensing</a:t>
            </a:r>
            <a:endParaRPr lang="en-US" sz="75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5CDF385A-AC38-3C14-73CC-82015E318902}"/>
              </a:ext>
            </a:extLst>
          </p:cNvPr>
          <p:cNvSpPr/>
          <p:nvPr/>
        </p:nvSpPr>
        <p:spPr>
          <a:xfrm>
            <a:off x="2956369" y="1433957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FEBE227A-A8DB-AB3B-DA3D-22A36CF92D18}"/>
              </a:ext>
            </a:extLst>
          </p:cNvPr>
          <p:cNvSpPr/>
          <p:nvPr/>
        </p:nvSpPr>
        <p:spPr>
          <a:xfrm>
            <a:off x="3431857" y="1433957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80FE22B4-CAF4-CD13-2A9A-2D1A8DA2706D}"/>
              </a:ext>
            </a:extLst>
          </p:cNvPr>
          <p:cNvSpPr/>
          <p:nvPr/>
        </p:nvSpPr>
        <p:spPr>
          <a:xfrm>
            <a:off x="3907345" y="1433957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8F3AACAB-5F61-66B6-4242-6012114566DF}"/>
              </a:ext>
            </a:extLst>
          </p:cNvPr>
          <p:cNvSpPr/>
          <p:nvPr/>
        </p:nvSpPr>
        <p:spPr>
          <a:xfrm>
            <a:off x="4382833" y="1433957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6850D979-034F-DDE9-3306-E5D5942E9A5C}"/>
              </a:ext>
            </a:extLst>
          </p:cNvPr>
          <p:cNvSpPr/>
          <p:nvPr/>
        </p:nvSpPr>
        <p:spPr>
          <a:xfrm>
            <a:off x="4858321" y="1433957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F9D60E5E-B710-E928-383D-6BABB955DC09}"/>
              </a:ext>
            </a:extLst>
          </p:cNvPr>
          <p:cNvSpPr/>
          <p:nvPr/>
        </p:nvSpPr>
        <p:spPr>
          <a:xfrm>
            <a:off x="5333809" y="1433957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B5105F54-2D9E-F47B-C9AF-BF321AB73AD1}"/>
              </a:ext>
            </a:extLst>
          </p:cNvPr>
          <p:cNvSpPr/>
          <p:nvPr/>
        </p:nvSpPr>
        <p:spPr>
          <a:xfrm>
            <a:off x="5809297" y="1433957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B76B0686-31F4-99E0-56B4-DC7F8BF0E72B}"/>
              </a:ext>
            </a:extLst>
          </p:cNvPr>
          <p:cNvSpPr/>
          <p:nvPr/>
        </p:nvSpPr>
        <p:spPr>
          <a:xfrm>
            <a:off x="6284785" y="1433957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F5CC1C12-B55F-D7C5-D519-FB8A9C625555}"/>
              </a:ext>
            </a:extLst>
          </p:cNvPr>
          <p:cNvSpPr/>
          <p:nvPr/>
        </p:nvSpPr>
        <p:spPr>
          <a:xfrm>
            <a:off x="6760273" y="1433957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82003B16-F1DD-013D-2E70-B29A1098D9BE}"/>
              </a:ext>
            </a:extLst>
          </p:cNvPr>
          <p:cNvSpPr/>
          <p:nvPr/>
        </p:nvSpPr>
        <p:spPr>
          <a:xfrm>
            <a:off x="7235761" y="1433957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C02F29F2-A69C-16D9-15E9-CB150EE252E4}"/>
              </a:ext>
            </a:extLst>
          </p:cNvPr>
          <p:cNvSpPr/>
          <p:nvPr/>
        </p:nvSpPr>
        <p:spPr>
          <a:xfrm>
            <a:off x="7711249" y="1433957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BE5734B3-0EF4-58FB-470A-451A2AFAA426}"/>
              </a:ext>
            </a:extLst>
          </p:cNvPr>
          <p:cNvSpPr/>
          <p:nvPr/>
        </p:nvSpPr>
        <p:spPr>
          <a:xfrm>
            <a:off x="8186737" y="1433957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8DE9101B-C77C-4FED-3047-82A5F1F2741A}"/>
              </a:ext>
            </a:extLst>
          </p:cNvPr>
          <p:cNvSpPr/>
          <p:nvPr/>
        </p:nvSpPr>
        <p:spPr>
          <a:xfrm>
            <a:off x="2992945" y="1479677"/>
            <a:ext cx="877824" cy="182880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DB897FA5-365D-5591-D161-7EB31E0A4E90}"/>
              </a:ext>
            </a:extLst>
          </p:cNvPr>
          <p:cNvSpPr/>
          <p:nvPr/>
        </p:nvSpPr>
        <p:spPr>
          <a:xfrm>
            <a:off x="396049" y="1726565"/>
            <a:ext cx="2514600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2E3D9C61-74DD-6CEC-1B28-ED17EC6C7E14}"/>
              </a:ext>
            </a:extLst>
          </p:cNvPr>
          <p:cNvSpPr/>
          <p:nvPr/>
        </p:nvSpPr>
        <p:spPr>
          <a:xfrm>
            <a:off x="487489" y="1726565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4A5568"/>
                </a:solidFill>
              </a:rPr>
              <a:t>Singal Conditioning and Conversion</a:t>
            </a:r>
            <a:endParaRPr lang="en-US" sz="750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7FC9F26F-91A5-71CA-4C6B-3A142F62B9CE}"/>
              </a:ext>
            </a:extLst>
          </p:cNvPr>
          <p:cNvSpPr/>
          <p:nvPr/>
        </p:nvSpPr>
        <p:spPr>
          <a:xfrm>
            <a:off x="2956369" y="1726565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7D6CD89A-8E60-6188-F369-5D32809D29AC}"/>
              </a:ext>
            </a:extLst>
          </p:cNvPr>
          <p:cNvSpPr/>
          <p:nvPr/>
        </p:nvSpPr>
        <p:spPr>
          <a:xfrm>
            <a:off x="3431857" y="1726565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DF0B1BDF-7D00-5BF8-93D9-34875311D150}"/>
              </a:ext>
            </a:extLst>
          </p:cNvPr>
          <p:cNvSpPr/>
          <p:nvPr/>
        </p:nvSpPr>
        <p:spPr>
          <a:xfrm>
            <a:off x="3907345" y="1726565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71EA81BA-2707-67EA-FD3F-8B2C50893139}"/>
              </a:ext>
            </a:extLst>
          </p:cNvPr>
          <p:cNvSpPr/>
          <p:nvPr/>
        </p:nvSpPr>
        <p:spPr>
          <a:xfrm>
            <a:off x="4382833" y="1726565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A2C23701-6B45-48A7-6225-89FEAA192521}"/>
              </a:ext>
            </a:extLst>
          </p:cNvPr>
          <p:cNvSpPr/>
          <p:nvPr/>
        </p:nvSpPr>
        <p:spPr>
          <a:xfrm>
            <a:off x="4858321" y="1726565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D207328F-A8A5-E6AB-866E-4C562C0AD0D1}"/>
              </a:ext>
            </a:extLst>
          </p:cNvPr>
          <p:cNvSpPr/>
          <p:nvPr/>
        </p:nvSpPr>
        <p:spPr>
          <a:xfrm>
            <a:off x="5333809" y="1726565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33137C9B-93EC-A333-9C25-04C6EFC07E85}"/>
              </a:ext>
            </a:extLst>
          </p:cNvPr>
          <p:cNvSpPr/>
          <p:nvPr/>
        </p:nvSpPr>
        <p:spPr>
          <a:xfrm>
            <a:off x="5809297" y="1726565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277C8310-79E0-EC3A-63BF-6FFCDDC9A223}"/>
              </a:ext>
            </a:extLst>
          </p:cNvPr>
          <p:cNvSpPr/>
          <p:nvPr/>
        </p:nvSpPr>
        <p:spPr>
          <a:xfrm>
            <a:off x="6284785" y="1726565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A69CD48F-D326-94E1-3F00-34E1B353348A}"/>
              </a:ext>
            </a:extLst>
          </p:cNvPr>
          <p:cNvSpPr/>
          <p:nvPr/>
        </p:nvSpPr>
        <p:spPr>
          <a:xfrm>
            <a:off x="6760273" y="1726565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63A36763-4843-90B2-B9D5-360A7B64B9CA}"/>
              </a:ext>
            </a:extLst>
          </p:cNvPr>
          <p:cNvSpPr/>
          <p:nvPr/>
        </p:nvSpPr>
        <p:spPr>
          <a:xfrm>
            <a:off x="7235761" y="1726565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4AA49E61-7D1A-C728-F92E-0A11E7937FBA}"/>
              </a:ext>
            </a:extLst>
          </p:cNvPr>
          <p:cNvSpPr/>
          <p:nvPr/>
        </p:nvSpPr>
        <p:spPr>
          <a:xfrm>
            <a:off x="7711249" y="1726565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524C4086-E5D2-EC1D-415D-D27102C3DA9D}"/>
              </a:ext>
            </a:extLst>
          </p:cNvPr>
          <p:cNvSpPr/>
          <p:nvPr/>
        </p:nvSpPr>
        <p:spPr>
          <a:xfrm>
            <a:off x="8186737" y="1726565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08DE73D0-C55D-6CBC-94F2-2331A7780286}"/>
              </a:ext>
            </a:extLst>
          </p:cNvPr>
          <p:cNvSpPr/>
          <p:nvPr/>
        </p:nvSpPr>
        <p:spPr>
          <a:xfrm>
            <a:off x="3468433" y="1781429"/>
            <a:ext cx="4663186" cy="182880"/>
          </a:xfrm>
          <a:prstGeom prst="rect">
            <a:avLst/>
          </a:prstGeom>
          <a:solidFill>
            <a:srgbClr val="48BB78"/>
          </a:solidFill>
          <a:ln w="12700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BAE1393F-E23F-4B41-AE57-31E9849E3F0D}"/>
              </a:ext>
            </a:extLst>
          </p:cNvPr>
          <p:cNvSpPr/>
          <p:nvPr/>
        </p:nvSpPr>
        <p:spPr>
          <a:xfrm>
            <a:off x="396049" y="2019173"/>
            <a:ext cx="2514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EB45AB9F-CE69-389B-E119-529D26D7DA57}"/>
              </a:ext>
            </a:extLst>
          </p:cNvPr>
          <p:cNvSpPr/>
          <p:nvPr/>
        </p:nvSpPr>
        <p:spPr>
          <a:xfrm>
            <a:off x="487489" y="2019173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4A5568"/>
                </a:solidFill>
              </a:rPr>
              <a:t>Digital Logic and Data Presentation</a:t>
            </a:r>
            <a:endParaRPr lang="en-US" sz="750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4BA325C3-046A-9DE6-3512-924516057F7C}"/>
              </a:ext>
            </a:extLst>
          </p:cNvPr>
          <p:cNvSpPr/>
          <p:nvPr/>
        </p:nvSpPr>
        <p:spPr>
          <a:xfrm>
            <a:off x="2956369" y="2019173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3F96A2D7-B81B-656E-D8F1-7DECF9680016}"/>
              </a:ext>
            </a:extLst>
          </p:cNvPr>
          <p:cNvSpPr/>
          <p:nvPr/>
        </p:nvSpPr>
        <p:spPr>
          <a:xfrm>
            <a:off x="3431857" y="2019173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0ACF47A7-6B26-E489-8504-B9C5A365844B}"/>
              </a:ext>
            </a:extLst>
          </p:cNvPr>
          <p:cNvSpPr/>
          <p:nvPr/>
        </p:nvSpPr>
        <p:spPr>
          <a:xfrm>
            <a:off x="3907345" y="2019173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9727FCA3-1AC1-71FB-3186-B15884F0DC9E}"/>
              </a:ext>
            </a:extLst>
          </p:cNvPr>
          <p:cNvSpPr/>
          <p:nvPr/>
        </p:nvSpPr>
        <p:spPr>
          <a:xfrm>
            <a:off x="4382833" y="2019173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3A63B3DD-7F46-65A9-5EF6-80F1522CA0D8}"/>
              </a:ext>
            </a:extLst>
          </p:cNvPr>
          <p:cNvSpPr/>
          <p:nvPr/>
        </p:nvSpPr>
        <p:spPr>
          <a:xfrm>
            <a:off x="4858321" y="2019173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3959FC25-C741-4C09-93F5-818447D73C23}"/>
              </a:ext>
            </a:extLst>
          </p:cNvPr>
          <p:cNvSpPr/>
          <p:nvPr/>
        </p:nvSpPr>
        <p:spPr>
          <a:xfrm>
            <a:off x="5333809" y="2019173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38973174-34AB-0C12-E9D4-36F4066E42E9}"/>
              </a:ext>
            </a:extLst>
          </p:cNvPr>
          <p:cNvSpPr/>
          <p:nvPr/>
        </p:nvSpPr>
        <p:spPr>
          <a:xfrm>
            <a:off x="5809297" y="2019173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14D29BDF-E7BD-2F21-3DD6-4A23F9DAD981}"/>
              </a:ext>
            </a:extLst>
          </p:cNvPr>
          <p:cNvSpPr/>
          <p:nvPr/>
        </p:nvSpPr>
        <p:spPr>
          <a:xfrm>
            <a:off x="6284785" y="2019173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8D83705D-9353-D08D-33B5-78CACC9394D5}"/>
              </a:ext>
            </a:extLst>
          </p:cNvPr>
          <p:cNvSpPr/>
          <p:nvPr/>
        </p:nvSpPr>
        <p:spPr>
          <a:xfrm>
            <a:off x="6760273" y="2019173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47F4BDDB-557B-54F8-46E3-47F8F005AC44}"/>
              </a:ext>
            </a:extLst>
          </p:cNvPr>
          <p:cNvSpPr/>
          <p:nvPr/>
        </p:nvSpPr>
        <p:spPr>
          <a:xfrm>
            <a:off x="7235761" y="2019173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1A2B4BB1-B80B-7A73-48F5-D6E854363904}"/>
              </a:ext>
            </a:extLst>
          </p:cNvPr>
          <p:cNvSpPr/>
          <p:nvPr/>
        </p:nvSpPr>
        <p:spPr>
          <a:xfrm>
            <a:off x="7711249" y="2019173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B4D91B28-8648-CD75-D4E1-D69A180C2A86}"/>
              </a:ext>
            </a:extLst>
          </p:cNvPr>
          <p:cNvSpPr/>
          <p:nvPr/>
        </p:nvSpPr>
        <p:spPr>
          <a:xfrm>
            <a:off x="8186737" y="2019173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68D209DD-1447-15B3-5CBC-BF53079E45A2}"/>
              </a:ext>
            </a:extLst>
          </p:cNvPr>
          <p:cNvSpPr/>
          <p:nvPr/>
        </p:nvSpPr>
        <p:spPr>
          <a:xfrm>
            <a:off x="3943921" y="2074037"/>
            <a:ext cx="398336" cy="182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22B7AE79-4DF2-1ADA-964C-01BA24011624}"/>
              </a:ext>
            </a:extLst>
          </p:cNvPr>
          <p:cNvSpPr/>
          <p:nvPr/>
        </p:nvSpPr>
        <p:spPr>
          <a:xfrm>
            <a:off x="396049" y="2311781"/>
            <a:ext cx="2514600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4E129661-2091-5DAD-1C9C-BEF55E71F45B}"/>
              </a:ext>
            </a:extLst>
          </p:cNvPr>
          <p:cNvSpPr/>
          <p:nvPr/>
        </p:nvSpPr>
        <p:spPr>
          <a:xfrm>
            <a:off x="487489" y="2311781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4A5568"/>
                </a:solidFill>
              </a:rPr>
              <a:t>Fluid Power and Kinematic Chain </a:t>
            </a:r>
            <a:endParaRPr lang="en-US" sz="750"/>
          </a:p>
        </p:txBody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7D480BC1-DBC1-6D5F-FFCD-43A8F1024124}"/>
              </a:ext>
            </a:extLst>
          </p:cNvPr>
          <p:cNvSpPr/>
          <p:nvPr/>
        </p:nvSpPr>
        <p:spPr>
          <a:xfrm>
            <a:off x="2956369" y="2311781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>
            <a:extLst>
              <a:ext uri="{FF2B5EF4-FFF2-40B4-BE49-F238E27FC236}">
                <a16:creationId xmlns:a16="http://schemas.microsoft.com/office/drawing/2014/main" id="{5D592DF4-65DA-26EC-9FCD-5740BE73805E}"/>
              </a:ext>
            </a:extLst>
          </p:cNvPr>
          <p:cNvSpPr/>
          <p:nvPr/>
        </p:nvSpPr>
        <p:spPr>
          <a:xfrm>
            <a:off x="3431857" y="2311781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>
            <a:extLst>
              <a:ext uri="{FF2B5EF4-FFF2-40B4-BE49-F238E27FC236}">
                <a16:creationId xmlns:a16="http://schemas.microsoft.com/office/drawing/2014/main" id="{F76694A1-0A4A-A64B-80E5-BA114AA0B178}"/>
              </a:ext>
            </a:extLst>
          </p:cNvPr>
          <p:cNvSpPr/>
          <p:nvPr/>
        </p:nvSpPr>
        <p:spPr>
          <a:xfrm>
            <a:off x="3907345" y="2311781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>
            <a:extLst>
              <a:ext uri="{FF2B5EF4-FFF2-40B4-BE49-F238E27FC236}">
                <a16:creationId xmlns:a16="http://schemas.microsoft.com/office/drawing/2014/main" id="{3A07FE14-5391-7328-A6E0-7A8C521E3764}"/>
              </a:ext>
            </a:extLst>
          </p:cNvPr>
          <p:cNvSpPr/>
          <p:nvPr/>
        </p:nvSpPr>
        <p:spPr>
          <a:xfrm>
            <a:off x="4382833" y="2311781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AA434436-817A-70E3-1F8D-EBEE497AB2A6}"/>
              </a:ext>
            </a:extLst>
          </p:cNvPr>
          <p:cNvSpPr/>
          <p:nvPr/>
        </p:nvSpPr>
        <p:spPr>
          <a:xfrm>
            <a:off x="4858321" y="2311781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82CA5010-3E7F-F4E1-4F16-1D80DFA3F2AF}"/>
              </a:ext>
            </a:extLst>
          </p:cNvPr>
          <p:cNvSpPr/>
          <p:nvPr/>
        </p:nvSpPr>
        <p:spPr>
          <a:xfrm>
            <a:off x="5333809" y="2311781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6F154016-0B99-8D7F-EBB5-F229A56E11A3}"/>
              </a:ext>
            </a:extLst>
          </p:cNvPr>
          <p:cNvSpPr/>
          <p:nvPr/>
        </p:nvSpPr>
        <p:spPr>
          <a:xfrm>
            <a:off x="5809297" y="2311781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>
            <a:extLst>
              <a:ext uri="{FF2B5EF4-FFF2-40B4-BE49-F238E27FC236}">
                <a16:creationId xmlns:a16="http://schemas.microsoft.com/office/drawing/2014/main" id="{335B592B-8DEE-CE57-2C8F-B9356276A666}"/>
              </a:ext>
            </a:extLst>
          </p:cNvPr>
          <p:cNvSpPr/>
          <p:nvPr/>
        </p:nvSpPr>
        <p:spPr>
          <a:xfrm>
            <a:off x="6284785" y="2311781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BC3D14BF-E95B-E5E1-9969-4B516D946C06}"/>
              </a:ext>
            </a:extLst>
          </p:cNvPr>
          <p:cNvSpPr/>
          <p:nvPr/>
        </p:nvSpPr>
        <p:spPr>
          <a:xfrm>
            <a:off x="6760273" y="2311781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>
            <a:extLst>
              <a:ext uri="{FF2B5EF4-FFF2-40B4-BE49-F238E27FC236}">
                <a16:creationId xmlns:a16="http://schemas.microsoft.com/office/drawing/2014/main" id="{031B947A-BC27-B119-EE70-571EF7DEC9AE}"/>
              </a:ext>
            </a:extLst>
          </p:cNvPr>
          <p:cNvSpPr/>
          <p:nvPr/>
        </p:nvSpPr>
        <p:spPr>
          <a:xfrm>
            <a:off x="7235761" y="2311781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>
            <a:extLst>
              <a:ext uri="{FF2B5EF4-FFF2-40B4-BE49-F238E27FC236}">
                <a16:creationId xmlns:a16="http://schemas.microsoft.com/office/drawing/2014/main" id="{12E795F2-8A1F-C907-8616-75A96ADBECE3}"/>
              </a:ext>
            </a:extLst>
          </p:cNvPr>
          <p:cNvSpPr/>
          <p:nvPr/>
        </p:nvSpPr>
        <p:spPr>
          <a:xfrm>
            <a:off x="7711249" y="2311781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>
            <a:extLst>
              <a:ext uri="{FF2B5EF4-FFF2-40B4-BE49-F238E27FC236}">
                <a16:creationId xmlns:a16="http://schemas.microsoft.com/office/drawing/2014/main" id="{1B910F26-4168-3AF8-72A4-A2F3F3C5C511}"/>
              </a:ext>
            </a:extLst>
          </p:cNvPr>
          <p:cNvSpPr/>
          <p:nvPr/>
        </p:nvSpPr>
        <p:spPr>
          <a:xfrm>
            <a:off x="8186737" y="2311781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>
            <a:extLst>
              <a:ext uri="{FF2B5EF4-FFF2-40B4-BE49-F238E27FC236}">
                <a16:creationId xmlns:a16="http://schemas.microsoft.com/office/drawing/2014/main" id="{F9EA7EB5-A5D6-4DB7-9D5C-F39DD68CADD6}"/>
              </a:ext>
            </a:extLst>
          </p:cNvPr>
          <p:cNvSpPr/>
          <p:nvPr/>
        </p:nvSpPr>
        <p:spPr>
          <a:xfrm>
            <a:off x="3477577" y="2366645"/>
            <a:ext cx="3246120" cy="182880"/>
          </a:xfrm>
          <a:prstGeom prst="rect">
            <a:avLst/>
          </a:prstGeom>
          <a:solidFill>
            <a:srgbClr val="38B2AC"/>
          </a:solidFill>
          <a:ln w="12700">
            <a:solidFill>
              <a:srgbClr val="38B2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>
            <a:extLst>
              <a:ext uri="{FF2B5EF4-FFF2-40B4-BE49-F238E27FC236}">
                <a16:creationId xmlns:a16="http://schemas.microsoft.com/office/drawing/2014/main" id="{BFBD968B-31A4-7C73-28D5-C85105CB3A26}"/>
              </a:ext>
            </a:extLst>
          </p:cNvPr>
          <p:cNvSpPr/>
          <p:nvPr/>
        </p:nvSpPr>
        <p:spPr>
          <a:xfrm>
            <a:off x="396049" y="2604389"/>
            <a:ext cx="2514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>
            <a:extLst>
              <a:ext uri="{FF2B5EF4-FFF2-40B4-BE49-F238E27FC236}">
                <a16:creationId xmlns:a16="http://schemas.microsoft.com/office/drawing/2014/main" id="{1AB57FAE-DD0A-9E55-0B39-F251735FB344}"/>
              </a:ext>
            </a:extLst>
          </p:cNvPr>
          <p:cNvSpPr/>
          <p:nvPr/>
        </p:nvSpPr>
        <p:spPr>
          <a:xfrm>
            <a:off x="487489" y="2604389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4A5568"/>
                </a:solidFill>
              </a:rPr>
              <a:t>Electrical Actuation and Motor Selection</a:t>
            </a:r>
            <a:endParaRPr lang="en-US" sz="750"/>
          </a:p>
        </p:txBody>
      </p:sp>
      <p:sp>
        <p:nvSpPr>
          <p:cNvPr id="94" name="Shape 92">
            <a:extLst>
              <a:ext uri="{FF2B5EF4-FFF2-40B4-BE49-F238E27FC236}">
                <a16:creationId xmlns:a16="http://schemas.microsoft.com/office/drawing/2014/main" id="{AFE6BA4C-DFAD-DA07-8183-112F597B119A}"/>
              </a:ext>
            </a:extLst>
          </p:cNvPr>
          <p:cNvSpPr/>
          <p:nvPr/>
        </p:nvSpPr>
        <p:spPr>
          <a:xfrm>
            <a:off x="2956369" y="2604389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>
            <a:extLst>
              <a:ext uri="{FF2B5EF4-FFF2-40B4-BE49-F238E27FC236}">
                <a16:creationId xmlns:a16="http://schemas.microsoft.com/office/drawing/2014/main" id="{087FB90E-0D93-C354-A3B8-6EDB1EBD8151}"/>
              </a:ext>
            </a:extLst>
          </p:cNvPr>
          <p:cNvSpPr/>
          <p:nvPr/>
        </p:nvSpPr>
        <p:spPr>
          <a:xfrm>
            <a:off x="3431857" y="2604389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>
            <a:extLst>
              <a:ext uri="{FF2B5EF4-FFF2-40B4-BE49-F238E27FC236}">
                <a16:creationId xmlns:a16="http://schemas.microsoft.com/office/drawing/2014/main" id="{58C31B9B-DA7B-1D77-1D19-F0C3CFEAC99E}"/>
              </a:ext>
            </a:extLst>
          </p:cNvPr>
          <p:cNvSpPr/>
          <p:nvPr/>
        </p:nvSpPr>
        <p:spPr>
          <a:xfrm>
            <a:off x="3907345" y="2604389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>
            <a:extLst>
              <a:ext uri="{FF2B5EF4-FFF2-40B4-BE49-F238E27FC236}">
                <a16:creationId xmlns:a16="http://schemas.microsoft.com/office/drawing/2014/main" id="{8BE4A79B-3F06-623D-F60E-E322ACFFDFE2}"/>
              </a:ext>
            </a:extLst>
          </p:cNvPr>
          <p:cNvSpPr/>
          <p:nvPr/>
        </p:nvSpPr>
        <p:spPr>
          <a:xfrm>
            <a:off x="4382833" y="2604389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>
            <a:extLst>
              <a:ext uri="{FF2B5EF4-FFF2-40B4-BE49-F238E27FC236}">
                <a16:creationId xmlns:a16="http://schemas.microsoft.com/office/drawing/2014/main" id="{09782BF6-2F78-7F17-26E6-3FFD91086D41}"/>
              </a:ext>
            </a:extLst>
          </p:cNvPr>
          <p:cNvSpPr/>
          <p:nvPr/>
        </p:nvSpPr>
        <p:spPr>
          <a:xfrm>
            <a:off x="4858321" y="2604389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>
            <a:extLst>
              <a:ext uri="{FF2B5EF4-FFF2-40B4-BE49-F238E27FC236}">
                <a16:creationId xmlns:a16="http://schemas.microsoft.com/office/drawing/2014/main" id="{B96DEC15-E8DF-1227-329C-72C083AA4EAB}"/>
              </a:ext>
            </a:extLst>
          </p:cNvPr>
          <p:cNvSpPr/>
          <p:nvPr/>
        </p:nvSpPr>
        <p:spPr>
          <a:xfrm>
            <a:off x="5333809" y="2604389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>
            <a:extLst>
              <a:ext uri="{FF2B5EF4-FFF2-40B4-BE49-F238E27FC236}">
                <a16:creationId xmlns:a16="http://schemas.microsoft.com/office/drawing/2014/main" id="{0206DF7E-58AC-39F2-5E94-5BF222040CE4}"/>
              </a:ext>
            </a:extLst>
          </p:cNvPr>
          <p:cNvSpPr/>
          <p:nvPr/>
        </p:nvSpPr>
        <p:spPr>
          <a:xfrm>
            <a:off x="5809297" y="2604389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>
            <a:extLst>
              <a:ext uri="{FF2B5EF4-FFF2-40B4-BE49-F238E27FC236}">
                <a16:creationId xmlns:a16="http://schemas.microsoft.com/office/drawing/2014/main" id="{5CC7EE60-46AA-DBD9-C38D-B9DCAFDDA721}"/>
              </a:ext>
            </a:extLst>
          </p:cNvPr>
          <p:cNvSpPr/>
          <p:nvPr/>
        </p:nvSpPr>
        <p:spPr>
          <a:xfrm>
            <a:off x="6284785" y="2604389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>
            <a:extLst>
              <a:ext uri="{FF2B5EF4-FFF2-40B4-BE49-F238E27FC236}">
                <a16:creationId xmlns:a16="http://schemas.microsoft.com/office/drawing/2014/main" id="{97309083-3409-0CDA-0284-D618E63A66BB}"/>
              </a:ext>
            </a:extLst>
          </p:cNvPr>
          <p:cNvSpPr/>
          <p:nvPr/>
        </p:nvSpPr>
        <p:spPr>
          <a:xfrm>
            <a:off x="6760273" y="2604389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>
            <a:extLst>
              <a:ext uri="{FF2B5EF4-FFF2-40B4-BE49-F238E27FC236}">
                <a16:creationId xmlns:a16="http://schemas.microsoft.com/office/drawing/2014/main" id="{5EDFABC8-E0F3-91A9-5E6F-4F96C99A2FCF}"/>
              </a:ext>
            </a:extLst>
          </p:cNvPr>
          <p:cNvSpPr/>
          <p:nvPr/>
        </p:nvSpPr>
        <p:spPr>
          <a:xfrm>
            <a:off x="7235761" y="2604389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>
            <a:extLst>
              <a:ext uri="{FF2B5EF4-FFF2-40B4-BE49-F238E27FC236}">
                <a16:creationId xmlns:a16="http://schemas.microsoft.com/office/drawing/2014/main" id="{9CE3387A-84E2-6FD1-26B7-65C6810C8EEA}"/>
              </a:ext>
            </a:extLst>
          </p:cNvPr>
          <p:cNvSpPr/>
          <p:nvPr/>
        </p:nvSpPr>
        <p:spPr>
          <a:xfrm>
            <a:off x="7711249" y="2604389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>
            <a:extLst>
              <a:ext uri="{FF2B5EF4-FFF2-40B4-BE49-F238E27FC236}">
                <a16:creationId xmlns:a16="http://schemas.microsoft.com/office/drawing/2014/main" id="{A4E25C13-E47A-F1C0-0BBC-3CEB5EFAE71D}"/>
              </a:ext>
            </a:extLst>
          </p:cNvPr>
          <p:cNvSpPr/>
          <p:nvPr/>
        </p:nvSpPr>
        <p:spPr>
          <a:xfrm>
            <a:off x="8186737" y="2604389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>
            <a:extLst>
              <a:ext uri="{FF2B5EF4-FFF2-40B4-BE49-F238E27FC236}">
                <a16:creationId xmlns:a16="http://schemas.microsoft.com/office/drawing/2014/main" id="{BBBFCB13-482D-4EC5-1BD2-736684CE2231}"/>
              </a:ext>
            </a:extLst>
          </p:cNvPr>
          <p:cNvSpPr/>
          <p:nvPr/>
        </p:nvSpPr>
        <p:spPr>
          <a:xfrm>
            <a:off x="4427982" y="2659253"/>
            <a:ext cx="1322387" cy="182880"/>
          </a:xfrm>
          <a:prstGeom prst="rect">
            <a:avLst/>
          </a:prstGeom>
          <a:solidFill>
            <a:srgbClr val="9F7AEA"/>
          </a:solidFill>
          <a:ln w="12700">
            <a:solidFill>
              <a:srgbClr val="9F7A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>
            <a:extLst>
              <a:ext uri="{FF2B5EF4-FFF2-40B4-BE49-F238E27FC236}">
                <a16:creationId xmlns:a16="http://schemas.microsoft.com/office/drawing/2014/main" id="{D7A9F42F-3E01-A60F-9688-6D158DBDC1C2}"/>
              </a:ext>
            </a:extLst>
          </p:cNvPr>
          <p:cNvSpPr/>
          <p:nvPr/>
        </p:nvSpPr>
        <p:spPr>
          <a:xfrm>
            <a:off x="396049" y="2896997"/>
            <a:ext cx="2514600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>
            <a:extLst>
              <a:ext uri="{FF2B5EF4-FFF2-40B4-BE49-F238E27FC236}">
                <a16:creationId xmlns:a16="http://schemas.microsoft.com/office/drawing/2014/main" id="{A5BAE96D-30F2-22E3-AF81-BE61DA999613}"/>
              </a:ext>
            </a:extLst>
          </p:cNvPr>
          <p:cNvSpPr/>
          <p:nvPr/>
        </p:nvSpPr>
        <p:spPr>
          <a:xfrm>
            <a:off x="487489" y="2896997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4A5568"/>
                </a:solidFill>
              </a:rPr>
              <a:t>Embedded Controller Selection</a:t>
            </a:r>
            <a:endParaRPr lang="en-US" sz="750"/>
          </a:p>
        </p:txBody>
      </p:sp>
      <p:sp>
        <p:nvSpPr>
          <p:cNvPr id="109" name="Shape 107">
            <a:extLst>
              <a:ext uri="{FF2B5EF4-FFF2-40B4-BE49-F238E27FC236}">
                <a16:creationId xmlns:a16="http://schemas.microsoft.com/office/drawing/2014/main" id="{EEC13A1B-9391-1A20-066D-740340B4AE51}"/>
              </a:ext>
            </a:extLst>
          </p:cNvPr>
          <p:cNvSpPr/>
          <p:nvPr/>
        </p:nvSpPr>
        <p:spPr>
          <a:xfrm>
            <a:off x="2956369" y="2896997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>
            <a:extLst>
              <a:ext uri="{FF2B5EF4-FFF2-40B4-BE49-F238E27FC236}">
                <a16:creationId xmlns:a16="http://schemas.microsoft.com/office/drawing/2014/main" id="{02DB296B-1005-CC85-961E-36573A3F02C4}"/>
              </a:ext>
            </a:extLst>
          </p:cNvPr>
          <p:cNvSpPr/>
          <p:nvPr/>
        </p:nvSpPr>
        <p:spPr>
          <a:xfrm>
            <a:off x="3431857" y="2896997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>
            <a:extLst>
              <a:ext uri="{FF2B5EF4-FFF2-40B4-BE49-F238E27FC236}">
                <a16:creationId xmlns:a16="http://schemas.microsoft.com/office/drawing/2014/main" id="{C53D26DA-D914-BF2E-07A7-6BFAE77EC39A}"/>
              </a:ext>
            </a:extLst>
          </p:cNvPr>
          <p:cNvSpPr/>
          <p:nvPr/>
        </p:nvSpPr>
        <p:spPr>
          <a:xfrm>
            <a:off x="3907345" y="2896997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>
            <a:extLst>
              <a:ext uri="{FF2B5EF4-FFF2-40B4-BE49-F238E27FC236}">
                <a16:creationId xmlns:a16="http://schemas.microsoft.com/office/drawing/2014/main" id="{18E443BE-5B91-F73F-710B-52050F230C50}"/>
              </a:ext>
            </a:extLst>
          </p:cNvPr>
          <p:cNvSpPr/>
          <p:nvPr/>
        </p:nvSpPr>
        <p:spPr>
          <a:xfrm>
            <a:off x="4382833" y="2896997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>
            <a:extLst>
              <a:ext uri="{FF2B5EF4-FFF2-40B4-BE49-F238E27FC236}">
                <a16:creationId xmlns:a16="http://schemas.microsoft.com/office/drawing/2014/main" id="{D5923618-D583-07F7-D0CF-6E4AFBD28CE9}"/>
              </a:ext>
            </a:extLst>
          </p:cNvPr>
          <p:cNvSpPr/>
          <p:nvPr/>
        </p:nvSpPr>
        <p:spPr>
          <a:xfrm>
            <a:off x="4858321" y="2896997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>
            <a:extLst>
              <a:ext uri="{FF2B5EF4-FFF2-40B4-BE49-F238E27FC236}">
                <a16:creationId xmlns:a16="http://schemas.microsoft.com/office/drawing/2014/main" id="{5EBFD475-7C24-8F95-0EE1-22D1C40A5C40}"/>
              </a:ext>
            </a:extLst>
          </p:cNvPr>
          <p:cNvSpPr/>
          <p:nvPr/>
        </p:nvSpPr>
        <p:spPr>
          <a:xfrm>
            <a:off x="5333809" y="2896997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>
            <a:extLst>
              <a:ext uri="{FF2B5EF4-FFF2-40B4-BE49-F238E27FC236}">
                <a16:creationId xmlns:a16="http://schemas.microsoft.com/office/drawing/2014/main" id="{9915293E-9E37-CB96-A356-DE4124BB0FB3}"/>
              </a:ext>
            </a:extLst>
          </p:cNvPr>
          <p:cNvSpPr/>
          <p:nvPr/>
        </p:nvSpPr>
        <p:spPr>
          <a:xfrm>
            <a:off x="5809297" y="2896997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>
            <a:extLst>
              <a:ext uri="{FF2B5EF4-FFF2-40B4-BE49-F238E27FC236}">
                <a16:creationId xmlns:a16="http://schemas.microsoft.com/office/drawing/2014/main" id="{5C73BD04-E9F8-9B55-517C-A52CB9F25819}"/>
              </a:ext>
            </a:extLst>
          </p:cNvPr>
          <p:cNvSpPr/>
          <p:nvPr/>
        </p:nvSpPr>
        <p:spPr>
          <a:xfrm>
            <a:off x="6284785" y="2896997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>
            <a:extLst>
              <a:ext uri="{FF2B5EF4-FFF2-40B4-BE49-F238E27FC236}">
                <a16:creationId xmlns:a16="http://schemas.microsoft.com/office/drawing/2014/main" id="{A04A1E26-415D-DD93-C6D9-95E4C5EB6CD5}"/>
              </a:ext>
            </a:extLst>
          </p:cNvPr>
          <p:cNvSpPr/>
          <p:nvPr/>
        </p:nvSpPr>
        <p:spPr>
          <a:xfrm>
            <a:off x="6760273" y="2896997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>
            <a:extLst>
              <a:ext uri="{FF2B5EF4-FFF2-40B4-BE49-F238E27FC236}">
                <a16:creationId xmlns:a16="http://schemas.microsoft.com/office/drawing/2014/main" id="{7C3D88E3-C543-FDC3-ECFC-BE4617402DAA}"/>
              </a:ext>
            </a:extLst>
          </p:cNvPr>
          <p:cNvSpPr/>
          <p:nvPr/>
        </p:nvSpPr>
        <p:spPr>
          <a:xfrm>
            <a:off x="7235761" y="2896997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>
            <a:extLst>
              <a:ext uri="{FF2B5EF4-FFF2-40B4-BE49-F238E27FC236}">
                <a16:creationId xmlns:a16="http://schemas.microsoft.com/office/drawing/2014/main" id="{D7743476-7520-262F-343D-825F8F9FA598}"/>
              </a:ext>
            </a:extLst>
          </p:cNvPr>
          <p:cNvSpPr/>
          <p:nvPr/>
        </p:nvSpPr>
        <p:spPr>
          <a:xfrm>
            <a:off x="7711249" y="2896997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>
            <a:extLst>
              <a:ext uri="{FF2B5EF4-FFF2-40B4-BE49-F238E27FC236}">
                <a16:creationId xmlns:a16="http://schemas.microsoft.com/office/drawing/2014/main" id="{36877FAA-8385-1407-8C1B-543F0C622EE6}"/>
              </a:ext>
            </a:extLst>
          </p:cNvPr>
          <p:cNvSpPr/>
          <p:nvPr/>
        </p:nvSpPr>
        <p:spPr>
          <a:xfrm>
            <a:off x="8186737" y="2896997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>
            <a:extLst>
              <a:ext uri="{FF2B5EF4-FFF2-40B4-BE49-F238E27FC236}">
                <a16:creationId xmlns:a16="http://schemas.microsoft.com/office/drawing/2014/main" id="{3357EFDE-FDD9-3764-05CD-5780091CCE42}"/>
              </a:ext>
            </a:extLst>
          </p:cNvPr>
          <p:cNvSpPr/>
          <p:nvPr/>
        </p:nvSpPr>
        <p:spPr>
          <a:xfrm>
            <a:off x="3031045" y="2954147"/>
            <a:ext cx="1311212" cy="182880"/>
          </a:xfrm>
          <a:prstGeom prst="rect">
            <a:avLst/>
          </a:prstGeom>
          <a:solidFill>
            <a:srgbClr val="ECC94B"/>
          </a:solidFill>
          <a:ln w="12700">
            <a:solidFill>
              <a:srgbClr val="ECC9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>
            <a:extLst>
              <a:ext uri="{FF2B5EF4-FFF2-40B4-BE49-F238E27FC236}">
                <a16:creationId xmlns:a16="http://schemas.microsoft.com/office/drawing/2014/main" id="{A1474825-003D-EC37-12E4-4580292ADAED}"/>
              </a:ext>
            </a:extLst>
          </p:cNvPr>
          <p:cNvSpPr/>
          <p:nvPr/>
        </p:nvSpPr>
        <p:spPr>
          <a:xfrm>
            <a:off x="396049" y="3189605"/>
            <a:ext cx="2514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21">
            <a:extLst>
              <a:ext uri="{FF2B5EF4-FFF2-40B4-BE49-F238E27FC236}">
                <a16:creationId xmlns:a16="http://schemas.microsoft.com/office/drawing/2014/main" id="{4421295A-815C-5B0D-ADEC-02697A9C0BB3}"/>
              </a:ext>
            </a:extLst>
          </p:cNvPr>
          <p:cNvSpPr/>
          <p:nvPr/>
        </p:nvSpPr>
        <p:spPr>
          <a:xfrm>
            <a:off x="487489" y="3189605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4A5568"/>
                </a:solidFill>
              </a:rPr>
              <a:t>Firmware Development</a:t>
            </a:r>
            <a:endParaRPr lang="en-US" sz="750"/>
          </a:p>
        </p:txBody>
      </p:sp>
      <p:sp>
        <p:nvSpPr>
          <p:cNvPr id="124" name="Shape 122">
            <a:extLst>
              <a:ext uri="{FF2B5EF4-FFF2-40B4-BE49-F238E27FC236}">
                <a16:creationId xmlns:a16="http://schemas.microsoft.com/office/drawing/2014/main" id="{74FDD292-CEAC-F0A7-D8B2-23B02043D1CA}"/>
              </a:ext>
            </a:extLst>
          </p:cNvPr>
          <p:cNvSpPr/>
          <p:nvPr/>
        </p:nvSpPr>
        <p:spPr>
          <a:xfrm>
            <a:off x="2956369" y="3189605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>
            <a:extLst>
              <a:ext uri="{FF2B5EF4-FFF2-40B4-BE49-F238E27FC236}">
                <a16:creationId xmlns:a16="http://schemas.microsoft.com/office/drawing/2014/main" id="{D2132804-014E-CC79-0B01-8A8C262147BE}"/>
              </a:ext>
            </a:extLst>
          </p:cNvPr>
          <p:cNvSpPr/>
          <p:nvPr/>
        </p:nvSpPr>
        <p:spPr>
          <a:xfrm>
            <a:off x="3431857" y="3189605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>
            <a:extLst>
              <a:ext uri="{FF2B5EF4-FFF2-40B4-BE49-F238E27FC236}">
                <a16:creationId xmlns:a16="http://schemas.microsoft.com/office/drawing/2014/main" id="{3FECF1E0-35F0-D349-8672-CA874FFDDC6B}"/>
              </a:ext>
            </a:extLst>
          </p:cNvPr>
          <p:cNvSpPr/>
          <p:nvPr/>
        </p:nvSpPr>
        <p:spPr>
          <a:xfrm>
            <a:off x="3907345" y="3189605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>
            <a:extLst>
              <a:ext uri="{FF2B5EF4-FFF2-40B4-BE49-F238E27FC236}">
                <a16:creationId xmlns:a16="http://schemas.microsoft.com/office/drawing/2014/main" id="{29756FB4-79CD-349A-A0D0-7A729BAE3F63}"/>
              </a:ext>
            </a:extLst>
          </p:cNvPr>
          <p:cNvSpPr/>
          <p:nvPr/>
        </p:nvSpPr>
        <p:spPr>
          <a:xfrm>
            <a:off x="4382833" y="3189605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>
            <a:extLst>
              <a:ext uri="{FF2B5EF4-FFF2-40B4-BE49-F238E27FC236}">
                <a16:creationId xmlns:a16="http://schemas.microsoft.com/office/drawing/2014/main" id="{4848D4BF-68A8-9D6D-FCF6-6085E4B8F71F}"/>
              </a:ext>
            </a:extLst>
          </p:cNvPr>
          <p:cNvSpPr/>
          <p:nvPr/>
        </p:nvSpPr>
        <p:spPr>
          <a:xfrm>
            <a:off x="4858321" y="3189605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>
            <a:extLst>
              <a:ext uri="{FF2B5EF4-FFF2-40B4-BE49-F238E27FC236}">
                <a16:creationId xmlns:a16="http://schemas.microsoft.com/office/drawing/2014/main" id="{9C01D2B2-6DB8-9C57-39F1-D0AAD6032C54}"/>
              </a:ext>
            </a:extLst>
          </p:cNvPr>
          <p:cNvSpPr/>
          <p:nvPr/>
        </p:nvSpPr>
        <p:spPr>
          <a:xfrm>
            <a:off x="5333809" y="3189605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>
            <a:extLst>
              <a:ext uri="{FF2B5EF4-FFF2-40B4-BE49-F238E27FC236}">
                <a16:creationId xmlns:a16="http://schemas.microsoft.com/office/drawing/2014/main" id="{FB0BCAE0-D13A-C3C3-F74F-536CC4D2B511}"/>
              </a:ext>
            </a:extLst>
          </p:cNvPr>
          <p:cNvSpPr/>
          <p:nvPr/>
        </p:nvSpPr>
        <p:spPr>
          <a:xfrm>
            <a:off x="5809297" y="3189605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>
            <a:extLst>
              <a:ext uri="{FF2B5EF4-FFF2-40B4-BE49-F238E27FC236}">
                <a16:creationId xmlns:a16="http://schemas.microsoft.com/office/drawing/2014/main" id="{CA740E00-F622-550C-F3E7-F460F3517DBF}"/>
              </a:ext>
            </a:extLst>
          </p:cNvPr>
          <p:cNvSpPr/>
          <p:nvPr/>
        </p:nvSpPr>
        <p:spPr>
          <a:xfrm>
            <a:off x="6284785" y="3189605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>
            <a:extLst>
              <a:ext uri="{FF2B5EF4-FFF2-40B4-BE49-F238E27FC236}">
                <a16:creationId xmlns:a16="http://schemas.microsoft.com/office/drawing/2014/main" id="{CB1913CD-D3AF-ED8A-D874-3A665B5A0416}"/>
              </a:ext>
            </a:extLst>
          </p:cNvPr>
          <p:cNvSpPr/>
          <p:nvPr/>
        </p:nvSpPr>
        <p:spPr>
          <a:xfrm>
            <a:off x="6760273" y="3189605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>
            <a:extLst>
              <a:ext uri="{FF2B5EF4-FFF2-40B4-BE49-F238E27FC236}">
                <a16:creationId xmlns:a16="http://schemas.microsoft.com/office/drawing/2014/main" id="{390E3461-7EDD-4579-22BA-700BE73ACC73}"/>
              </a:ext>
            </a:extLst>
          </p:cNvPr>
          <p:cNvSpPr/>
          <p:nvPr/>
        </p:nvSpPr>
        <p:spPr>
          <a:xfrm>
            <a:off x="7235761" y="3189605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>
            <a:extLst>
              <a:ext uri="{FF2B5EF4-FFF2-40B4-BE49-F238E27FC236}">
                <a16:creationId xmlns:a16="http://schemas.microsoft.com/office/drawing/2014/main" id="{74BEC540-F312-A601-06BD-40F64858796B}"/>
              </a:ext>
            </a:extLst>
          </p:cNvPr>
          <p:cNvSpPr/>
          <p:nvPr/>
        </p:nvSpPr>
        <p:spPr>
          <a:xfrm>
            <a:off x="7711249" y="3189605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>
            <a:extLst>
              <a:ext uri="{FF2B5EF4-FFF2-40B4-BE49-F238E27FC236}">
                <a16:creationId xmlns:a16="http://schemas.microsoft.com/office/drawing/2014/main" id="{03D5FED4-A6B6-B9C1-2171-9D4369087C52}"/>
              </a:ext>
            </a:extLst>
          </p:cNvPr>
          <p:cNvSpPr/>
          <p:nvPr/>
        </p:nvSpPr>
        <p:spPr>
          <a:xfrm>
            <a:off x="8186737" y="3189605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>
            <a:extLst>
              <a:ext uri="{FF2B5EF4-FFF2-40B4-BE49-F238E27FC236}">
                <a16:creationId xmlns:a16="http://schemas.microsoft.com/office/drawing/2014/main" id="{1AD67355-B59F-E139-02D6-1D5CC46CFC0D}"/>
              </a:ext>
            </a:extLst>
          </p:cNvPr>
          <p:cNvSpPr/>
          <p:nvPr/>
        </p:nvSpPr>
        <p:spPr>
          <a:xfrm>
            <a:off x="5401119" y="3244469"/>
            <a:ext cx="2241550" cy="182880"/>
          </a:xfrm>
          <a:prstGeom prst="rect">
            <a:avLst/>
          </a:prstGeom>
          <a:solidFill>
            <a:srgbClr val="F56565"/>
          </a:solidFill>
          <a:ln w="12700">
            <a:solidFill>
              <a:srgbClr val="F565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>
            <a:extLst>
              <a:ext uri="{FF2B5EF4-FFF2-40B4-BE49-F238E27FC236}">
                <a16:creationId xmlns:a16="http://schemas.microsoft.com/office/drawing/2014/main" id="{DEBDE492-326B-24A6-62B3-C00E9CAFA1BE}"/>
              </a:ext>
            </a:extLst>
          </p:cNvPr>
          <p:cNvSpPr/>
          <p:nvPr/>
        </p:nvSpPr>
        <p:spPr>
          <a:xfrm>
            <a:off x="396049" y="3482213"/>
            <a:ext cx="2514600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 136">
            <a:extLst>
              <a:ext uri="{FF2B5EF4-FFF2-40B4-BE49-F238E27FC236}">
                <a16:creationId xmlns:a16="http://schemas.microsoft.com/office/drawing/2014/main" id="{429109C0-2A96-3523-E9FA-AFDCD37EB4FB}"/>
              </a:ext>
            </a:extLst>
          </p:cNvPr>
          <p:cNvSpPr/>
          <p:nvPr/>
        </p:nvSpPr>
        <p:spPr>
          <a:xfrm>
            <a:off x="487489" y="3482213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4A5568"/>
                </a:solidFill>
              </a:rPr>
              <a:t>I/O Interfacing and Industrial Control</a:t>
            </a:r>
            <a:endParaRPr lang="en-US" sz="750"/>
          </a:p>
        </p:txBody>
      </p:sp>
      <p:sp>
        <p:nvSpPr>
          <p:cNvPr id="139" name="Shape 137">
            <a:extLst>
              <a:ext uri="{FF2B5EF4-FFF2-40B4-BE49-F238E27FC236}">
                <a16:creationId xmlns:a16="http://schemas.microsoft.com/office/drawing/2014/main" id="{CBAEE2F4-9528-CDCE-B983-666B2316392A}"/>
              </a:ext>
            </a:extLst>
          </p:cNvPr>
          <p:cNvSpPr/>
          <p:nvPr/>
        </p:nvSpPr>
        <p:spPr>
          <a:xfrm>
            <a:off x="2956369" y="3482213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>
            <a:extLst>
              <a:ext uri="{FF2B5EF4-FFF2-40B4-BE49-F238E27FC236}">
                <a16:creationId xmlns:a16="http://schemas.microsoft.com/office/drawing/2014/main" id="{0DFF0A19-0E05-F1FB-10FD-3D2B93491717}"/>
              </a:ext>
            </a:extLst>
          </p:cNvPr>
          <p:cNvSpPr/>
          <p:nvPr/>
        </p:nvSpPr>
        <p:spPr>
          <a:xfrm>
            <a:off x="3431857" y="3482213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>
            <a:extLst>
              <a:ext uri="{FF2B5EF4-FFF2-40B4-BE49-F238E27FC236}">
                <a16:creationId xmlns:a16="http://schemas.microsoft.com/office/drawing/2014/main" id="{05390CFD-6599-4723-9668-06CEDD348038}"/>
              </a:ext>
            </a:extLst>
          </p:cNvPr>
          <p:cNvSpPr/>
          <p:nvPr/>
        </p:nvSpPr>
        <p:spPr>
          <a:xfrm>
            <a:off x="3907345" y="3482213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1">
            <a:extLst>
              <a:ext uri="{FF2B5EF4-FFF2-40B4-BE49-F238E27FC236}">
                <a16:creationId xmlns:a16="http://schemas.microsoft.com/office/drawing/2014/main" id="{7351301B-5872-A332-86F0-8C5DE7376546}"/>
              </a:ext>
            </a:extLst>
          </p:cNvPr>
          <p:cNvSpPr/>
          <p:nvPr/>
        </p:nvSpPr>
        <p:spPr>
          <a:xfrm>
            <a:off x="4858321" y="3482213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2">
            <a:extLst>
              <a:ext uri="{FF2B5EF4-FFF2-40B4-BE49-F238E27FC236}">
                <a16:creationId xmlns:a16="http://schemas.microsoft.com/office/drawing/2014/main" id="{2342E93C-4199-DA5C-90E6-5AC395E3FCA5}"/>
              </a:ext>
            </a:extLst>
          </p:cNvPr>
          <p:cNvSpPr/>
          <p:nvPr/>
        </p:nvSpPr>
        <p:spPr>
          <a:xfrm>
            <a:off x="5333809" y="3482213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3">
            <a:extLst>
              <a:ext uri="{FF2B5EF4-FFF2-40B4-BE49-F238E27FC236}">
                <a16:creationId xmlns:a16="http://schemas.microsoft.com/office/drawing/2014/main" id="{B7A472F1-13E7-3FE4-3E49-E5E0CEBE5726}"/>
              </a:ext>
            </a:extLst>
          </p:cNvPr>
          <p:cNvSpPr/>
          <p:nvPr/>
        </p:nvSpPr>
        <p:spPr>
          <a:xfrm>
            <a:off x="5809297" y="3482213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4">
            <a:extLst>
              <a:ext uri="{FF2B5EF4-FFF2-40B4-BE49-F238E27FC236}">
                <a16:creationId xmlns:a16="http://schemas.microsoft.com/office/drawing/2014/main" id="{9A5C7770-E0CA-6B0C-1CA5-5E417D4729C3}"/>
              </a:ext>
            </a:extLst>
          </p:cNvPr>
          <p:cNvSpPr/>
          <p:nvPr/>
        </p:nvSpPr>
        <p:spPr>
          <a:xfrm>
            <a:off x="6284785" y="3482213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5">
            <a:extLst>
              <a:ext uri="{FF2B5EF4-FFF2-40B4-BE49-F238E27FC236}">
                <a16:creationId xmlns:a16="http://schemas.microsoft.com/office/drawing/2014/main" id="{26087876-124E-8CE5-95CE-85C46E7A47B6}"/>
              </a:ext>
            </a:extLst>
          </p:cNvPr>
          <p:cNvSpPr/>
          <p:nvPr/>
        </p:nvSpPr>
        <p:spPr>
          <a:xfrm>
            <a:off x="6760273" y="3482213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6">
            <a:extLst>
              <a:ext uri="{FF2B5EF4-FFF2-40B4-BE49-F238E27FC236}">
                <a16:creationId xmlns:a16="http://schemas.microsoft.com/office/drawing/2014/main" id="{117E7576-E972-3642-DE2C-AFFF5DF9D5B3}"/>
              </a:ext>
            </a:extLst>
          </p:cNvPr>
          <p:cNvSpPr/>
          <p:nvPr/>
        </p:nvSpPr>
        <p:spPr>
          <a:xfrm>
            <a:off x="7235761" y="3482213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7">
            <a:extLst>
              <a:ext uri="{FF2B5EF4-FFF2-40B4-BE49-F238E27FC236}">
                <a16:creationId xmlns:a16="http://schemas.microsoft.com/office/drawing/2014/main" id="{CBBC40AD-7CD3-8866-A010-B2553EDB6FE5}"/>
              </a:ext>
            </a:extLst>
          </p:cNvPr>
          <p:cNvSpPr/>
          <p:nvPr/>
        </p:nvSpPr>
        <p:spPr>
          <a:xfrm>
            <a:off x="7711249" y="3482213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8">
            <a:extLst>
              <a:ext uri="{FF2B5EF4-FFF2-40B4-BE49-F238E27FC236}">
                <a16:creationId xmlns:a16="http://schemas.microsoft.com/office/drawing/2014/main" id="{4ECBF449-A8EB-5290-2A85-C3DC1121D33D}"/>
              </a:ext>
            </a:extLst>
          </p:cNvPr>
          <p:cNvSpPr/>
          <p:nvPr/>
        </p:nvSpPr>
        <p:spPr>
          <a:xfrm>
            <a:off x="8186737" y="3482213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9">
            <a:extLst>
              <a:ext uri="{FF2B5EF4-FFF2-40B4-BE49-F238E27FC236}">
                <a16:creationId xmlns:a16="http://schemas.microsoft.com/office/drawing/2014/main" id="{F43DE617-8208-FD35-FD80-474EAE30DA36}"/>
              </a:ext>
            </a:extLst>
          </p:cNvPr>
          <p:cNvSpPr/>
          <p:nvPr/>
        </p:nvSpPr>
        <p:spPr>
          <a:xfrm>
            <a:off x="6337743" y="3537077"/>
            <a:ext cx="1793876" cy="1828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1">
            <a:extLst>
              <a:ext uri="{FF2B5EF4-FFF2-40B4-BE49-F238E27FC236}">
                <a16:creationId xmlns:a16="http://schemas.microsoft.com/office/drawing/2014/main" id="{237E774A-AAAB-1B7F-E594-B288506D5816}"/>
              </a:ext>
            </a:extLst>
          </p:cNvPr>
          <p:cNvSpPr/>
          <p:nvPr/>
        </p:nvSpPr>
        <p:spPr>
          <a:xfrm>
            <a:off x="4368765" y="3482213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Shape 122">
            <a:extLst>
              <a:ext uri="{FF2B5EF4-FFF2-40B4-BE49-F238E27FC236}">
                <a16:creationId xmlns:a16="http://schemas.microsoft.com/office/drawing/2014/main" id="{74114A1C-8DE4-E340-59D6-7E6DF46565AF}"/>
              </a:ext>
            </a:extLst>
          </p:cNvPr>
          <p:cNvSpPr/>
          <p:nvPr/>
        </p:nvSpPr>
        <p:spPr>
          <a:xfrm>
            <a:off x="2956369" y="3774821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Shape 123">
            <a:extLst>
              <a:ext uri="{FF2B5EF4-FFF2-40B4-BE49-F238E27FC236}">
                <a16:creationId xmlns:a16="http://schemas.microsoft.com/office/drawing/2014/main" id="{CA07516D-759C-66FB-5C21-0C355FC5F912}"/>
              </a:ext>
            </a:extLst>
          </p:cNvPr>
          <p:cNvSpPr/>
          <p:nvPr/>
        </p:nvSpPr>
        <p:spPr>
          <a:xfrm>
            <a:off x="3431857" y="3774821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Shape 124">
            <a:extLst>
              <a:ext uri="{FF2B5EF4-FFF2-40B4-BE49-F238E27FC236}">
                <a16:creationId xmlns:a16="http://schemas.microsoft.com/office/drawing/2014/main" id="{ECC59A28-2B54-4398-F486-49242DA2DE6F}"/>
              </a:ext>
            </a:extLst>
          </p:cNvPr>
          <p:cNvSpPr/>
          <p:nvPr/>
        </p:nvSpPr>
        <p:spPr>
          <a:xfrm>
            <a:off x="3907345" y="3774821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Shape 125">
            <a:extLst>
              <a:ext uri="{FF2B5EF4-FFF2-40B4-BE49-F238E27FC236}">
                <a16:creationId xmlns:a16="http://schemas.microsoft.com/office/drawing/2014/main" id="{306A0783-9888-939A-0169-8DF02F346A4D}"/>
              </a:ext>
            </a:extLst>
          </p:cNvPr>
          <p:cNvSpPr/>
          <p:nvPr/>
        </p:nvSpPr>
        <p:spPr>
          <a:xfrm>
            <a:off x="4382833" y="3774821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Shape 126">
            <a:extLst>
              <a:ext uri="{FF2B5EF4-FFF2-40B4-BE49-F238E27FC236}">
                <a16:creationId xmlns:a16="http://schemas.microsoft.com/office/drawing/2014/main" id="{44008854-6799-75A0-8858-49CF3E240DC4}"/>
              </a:ext>
            </a:extLst>
          </p:cNvPr>
          <p:cNvSpPr/>
          <p:nvPr/>
        </p:nvSpPr>
        <p:spPr>
          <a:xfrm>
            <a:off x="4858321" y="3774821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Shape 127">
            <a:extLst>
              <a:ext uri="{FF2B5EF4-FFF2-40B4-BE49-F238E27FC236}">
                <a16:creationId xmlns:a16="http://schemas.microsoft.com/office/drawing/2014/main" id="{54D7CDF7-5100-8C84-9BBC-DD0C8A7334D0}"/>
              </a:ext>
            </a:extLst>
          </p:cNvPr>
          <p:cNvSpPr/>
          <p:nvPr/>
        </p:nvSpPr>
        <p:spPr>
          <a:xfrm>
            <a:off x="5333809" y="3774821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1" name="Shape 128">
            <a:extLst>
              <a:ext uri="{FF2B5EF4-FFF2-40B4-BE49-F238E27FC236}">
                <a16:creationId xmlns:a16="http://schemas.microsoft.com/office/drawing/2014/main" id="{1E6E74CB-296C-2F74-8E31-1633BFD20A61}"/>
              </a:ext>
            </a:extLst>
          </p:cNvPr>
          <p:cNvSpPr/>
          <p:nvPr/>
        </p:nvSpPr>
        <p:spPr>
          <a:xfrm>
            <a:off x="5809297" y="3774821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Shape 129">
            <a:extLst>
              <a:ext uri="{FF2B5EF4-FFF2-40B4-BE49-F238E27FC236}">
                <a16:creationId xmlns:a16="http://schemas.microsoft.com/office/drawing/2014/main" id="{6FCD36B9-9E76-3B58-1D9A-9E9D2CE27CE1}"/>
              </a:ext>
            </a:extLst>
          </p:cNvPr>
          <p:cNvSpPr/>
          <p:nvPr/>
        </p:nvSpPr>
        <p:spPr>
          <a:xfrm>
            <a:off x="6284785" y="3774821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Shape 130">
            <a:extLst>
              <a:ext uri="{FF2B5EF4-FFF2-40B4-BE49-F238E27FC236}">
                <a16:creationId xmlns:a16="http://schemas.microsoft.com/office/drawing/2014/main" id="{12E279CC-D703-6734-7656-0F2B0BAF4E9C}"/>
              </a:ext>
            </a:extLst>
          </p:cNvPr>
          <p:cNvSpPr/>
          <p:nvPr/>
        </p:nvSpPr>
        <p:spPr>
          <a:xfrm>
            <a:off x="6760273" y="3774821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Shape 131">
            <a:extLst>
              <a:ext uri="{FF2B5EF4-FFF2-40B4-BE49-F238E27FC236}">
                <a16:creationId xmlns:a16="http://schemas.microsoft.com/office/drawing/2014/main" id="{2733E8EE-E111-274B-026E-11133976EDDF}"/>
              </a:ext>
            </a:extLst>
          </p:cNvPr>
          <p:cNvSpPr/>
          <p:nvPr/>
        </p:nvSpPr>
        <p:spPr>
          <a:xfrm>
            <a:off x="7235761" y="3774821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5" name="Shape 132">
            <a:extLst>
              <a:ext uri="{FF2B5EF4-FFF2-40B4-BE49-F238E27FC236}">
                <a16:creationId xmlns:a16="http://schemas.microsoft.com/office/drawing/2014/main" id="{A86DFC45-D654-6E56-8986-9BE7EBD33AC6}"/>
              </a:ext>
            </a:extLst>
          </p:cNvPr>
          <p:cNvSpPr/>
          <p:nvPr/>
        </p:nvSpPr>
        <p:spPr>
          <a:xfrm>
            <a:off x="7711249" y="3774821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Shape 133">
            <a:extLst>
              <a:ext uri="{FF2B5EF4-FFF2-40B4-BE49-F238E27FC236}">
                <a16:creationId xmlns:a16="http://schemas.microsoft.com/office/drawing/2014/main" id="{8BB8C414-9A87-E4B2-D652-1D7BDE9CD32F}"/>
              </a:ext>
            </a:extLst>
          </p:cNvPr>
          <p:cNvSpPr/>
          <p:nvPr/>
        </p:nvSpPr>
        <p:spPr>
          <a:xfrm>
            <a:off x="8186737" y="3774821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0" name="Shape 137">
            <a:extLst>
              <a:ext uri="{FF2B5EF4-FFF2-40B4-BE49-F238E27FC236}">
                <a16:creationId xmlns:a16="http://schemas.microsoft.com/office/drawing/2014/main" id="{56B3679C-505B-8E94-E6AA-64AB35F740C4}"/>
              </a:ext>
            </a:extLst>
          </p:cNvPr>
          <p:cNvSpPr/>
          <p:nvPr/>
        </p:nvSpPr>
        <p:spPr>
          <a:xfrm>
            <a:off x="2956369" y="4067429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1" name="Shape 138">
            <a:extLst>
              <a:ext uri="{FF2B5EF4-FFF2-40B4-BE49-F238E27FC236}">
                <a16:creationId xmlns:a16="http://schemas.microsoft.com/office/drawing/2014/main" id="{C296D5B1-EC6D-EE68-81CE-B1F11895747A}"/>
              </a:ext>
            </a:extLst>
          </p:cNvPr>
          <p:cNvSpPr/>
          <p:nvPr/>
        </p:nvSpPr>
        <p:spPr>
          <a:xfrm>
            <a:off x="3431857" y="4067429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2" name="Shape 139">
            <a:extLst>
              <a:ext uri="{FF2B5EF4-FFF2-40B4-BE49-F238E27FC236}">
                <a16:creationId xmlns:a16="http://schemas.microsoft.com/office/drawing/2014/main" id="{B9681B58-EBC4-9BFF-848F-51F5223ABA59}"/>
              </a:ext>
            </a:extLst>
          </p:cNvPr>
          <p:cNvSpPr/>
          <p:nvPr/>
        </p:nvSpPr>
        <p:spPr>
          <a:xfrm>
            <a:off x="3907345" y="4067429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3" name="Shape 141">
            <a:extLst>
              <a:ext uri="{FF2B5EF4-FFF2-40B4-BE49-F238E27FC236}">
                <a16:creationId xmlns:a16="http://schemas.microsoft.com/office/drawing/2014/main" id="{F8E0B3C5-DA0B-6568-E0B0-466073F5DA87}"/>
              </a:ext>
            </a:extLst>
          </p:cNvPr>
          <p:cNvSpPr/>
          <p:nvPr/>
        </p:nvSpPr>
        <p:spPr>
          <a:xfrm>
            <a:off x="4858321" y="4067429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4" name="Shape 142">
            <a:extLst>
              <a:ext uri="{FF2B5EF4-FFF2-40B4-BE49-F238E27FC236}">
                <a16:creationId xmlns:a16="http://schemas.microsoft.com/office/drawing/2014/main" id="{54F8B524-A5F2-E139-AB44-CC5A26F9F376}"/>
              </a:ext>
            </a:extLst>
          </p:cNvPr>
          <p:cNvSpPr/>
          <p:nvPr/>
        </p:nvSpPr>
        <p:spPr>
          <a:xfrm>
            <a:off x="5333809" y="4067429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" name="Shape 143">
            <a:extLst>
              <a:ext uri="{FF2B5EF4-FFF2-40B4-BE49-F238E27FC236}">
                <a16:creationId xmlns:a16="http://schemas.microsoft.com/office/drawing/2014/main" id="{02ABFC29-8570-D373-48E8-78053DEC9A75}"/>
              </a:ext>
            </a:extLst>
          </p:cNvPr>
          <p:cNvSpPr/>
          <p:nvPr/>
        </p:nvSpPr>
        <p:spPr>
          <a:xfrm>
            <a:off x="5809297" y="4067429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6" name="Shape 144">
            <a:extLst>
              <a:ext uri="{FF2B5EF4-FFF2-40B4-BE49-F238E27FC236}">
                <a16:creationId xmlns:a16="http://schemas.microsoft.com/office/drawing/2014/main" id="{25F35B9A-F86B-D87C-7AB3-8FB1E5664488}"/>
              </a:ext>
            </a:extLst>
          </p:cNvPr>
          <p:cNvSpPr/>
          <p:nvPr/>
        </p:nvSpPr>
        <p:spPr>
          <a:xfrm>
            <a:off x="6284785" y="4067429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7" name="Shape 145">
            <a:extLst>
              <a:ext uri="{FF2B5EF4-FFF2-40B4-BE49-F238E27FC236}">
                <a16:creationId xmlns:a16="http://schemas.microsoft.com/office/drawing/2014/main" id="{5CB37548-7486-1839-53B6-90728E24B301}"/>
              </a:ext>
            </a:extLst>
          </p:cNvPr>
          <p:cNvSpPr/>
          <p:nvPr/>
        </p:nvSpPr>
        <p:spPr>
          <a:xfrm>
            <a:off x="6760273" y="4067429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8" name="Shape 146">
            <a:extLst>
              <a:ext uri="{FF2B5EF4-FFF2-40B4-BE49-F238E27FC236}">
                <a16:creationId xmlns:a16="http://schemas.microsoft.com/office/drawing/2014/main" id="{C494AEB6-084C-AFFD-176C-A1DA413D9C9B}"/>
              </a:ext>
            </a:extLst>
          </p:cNvPr>
          <p:cNvSpPr/>
          <p:nvPr/>
        </p:nvSpPr>
        <p:spPr>
          <a:xfrm>
            <a:off x="7235761" y="4067429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9" name="Shape 147">
            <a:extLst>
              <a:ext uri="{FF2B5EF4-FFF2-40B4-BE49-F238E27FC236}">
                <a16:creationId xmlns:a16="http://schemas.microsoft.com/office/drawing/2014/main" id="{783AB14B-5BCA-8C83-21A9-08704F3741C4}"/>
              </a:ext>
            </a:extLst>
          </p:cNvPr>
          <p:cNvSpPr/>
          <p:nvPr/>
        </p:nvSpPr>
        <p:spPr>
          <a:xfrm>
            <a:off x="7705280" y="4067429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0" name="Shape 148">
            <a:extLst>
              <a:ext uri="{FF2B5EF4-FFF2-40B4-BE49-F238E27FC236}">
                <a16:creationId xmlns:a16="http://schemas.microsoft.com/office/drawing/2014/main" id="{46B8A8F4-96F3-05C3-8C47-04C715B6D11A}"/>
              </a:ext>
            </a:extLst>
          </p:cNvPr>
          <p:cNvSpPr/>
          <p:nvPr/>
        </p:nvSpPr>
        <p:spPr>
          <a:xfrm>
            <a:off x="8186737" y="4067429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1" name="Shape 141">
            <a:extLst>
              <a:ext uri="{FF2B5EF4-FFF2-40B4-BE49-F238E27FC236}">
                <a16:creationId xmlns:a16="http://schemas.microsoft.com/office/drawing/2014/main" id="{2A3EB898-1388-8E4C-5ABF-7106E43F7756}"/>
              </a:ext>
            </a:extLst>
          </p:cNvPr>
          <p:cNvSpPr/>
          <p:nvPr/>
        </p:nvSpPr>
        <p:spPr>
          <a:xfrm>
            <a:off x="4368765" y="4067429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0" name="Shape 122">
            <a:extLst>
              <a:ext uri="{FF2B5EF4-FFF2-40B4-BE49-F238E27FC236}">
                <a16:creationId xmlns:a16="http://schemas.microsoft.com/office/drawing/2014/main" id="{EAE8FCB1-D369-0A7B-9319-97C25668023B}"/>
              </a:ext>
            </a:extLst>
          </p:cNvPr>
          <p:cNvSpPr/>
          <p:nvPr/>
        </p:nvSpPr>
        <p:spPr>
          <a:xfrm>
            <a:off x="2956369" y="4360037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1" name="Shape 123">
            <a:extLst>
              <a:ext uri="{FF2B5EF4-FFF2-40B4-BE49-F238E27FC236}">
                <a16:creationId xmlns:a16="http://schemas.microsoft.com/office/drawing/2014/main" id="{3ED9EDC9-3031-FE2F-5180-C505322B0ADF}"/>
              </a:ext>
            </a:extLst>
          </p:cNvPr>
          <p:cNvSpPr/>
          <p:nvPr/>
        </p:nvSpPr>
        <p:spPr>
          <a:xfrm>
            <a:off x="3431857" y="4360037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2" name="Shape 124">
            <a:extLst>
              <a:ext uri="{FF2B5EF4-FFF2-40B4-BE49-F238E27FC236}">
                <a16:creationId xmlns:a16="http://schemas.microsoft.com/office/drawing/2014/main" id="{AFE66EA9-5CE1-003A-FF88-E6C1BDFA4665}"/>
              </a:ext>
            </a:extLst>
          </p:cNvPr>
          <p:cNvSpPr/>
          <p:nvPr/>
        </p:nvSpPr>
        <p:spPr>
          <a:xfrm>
            <a:off x="3907345" y="4360037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3" name="Shape 125">
            <a:extLst>
              <a:ext uri="{FF2B5EF4-FFF2-40B4-BE49-F238E27FC236}">
                <a16:creationId xmlns:a16="http://schemas.microsoft.com/office/drawing/2014/main" id="{5EDAB265-9E03-DD87-068B-6260A5DC0167}"/>
              </a:ext>
            </a:extLst>
          </p:cNvPr>
          <p:cNvSpPr/>
          <p:nvPr/>
        </p:nvSpPr>
        <p:spPr>
          <a:xfrm>
            <a:off x="4382833" y="4360037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4" name="Shape 126">
            <a:extLst>
              <a:ext uri="{FF2B5EF4-FFF2-40B4-BE49-F238E27FC236}">
                <a16:creationId xmlns:a16="http://schemas.microsoft.com/office/drawing/2014/main" id="{76BB825B-2C78-332C-E29F-6E1D8EDBA16B}"/>
              </a:ext>
            </a:extLst>
          </p:cNvPr>
          <p:cNvSpPr/>
          <p:nvPr/>
        </p:nvSpPr>
        <p:spPr>
          <a:xfrm>
            <a:off x="4858321" y="4360037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5" name="Shape 127">
            <a:extLst>
              <a:ext uri="{FF2B5EF4-FFF2-40B4-BE49-F238E27FC236}">
                <a16:creationId xmlns:a16="http://schemas.microsoft.com/office/drawing/2014/main" id="{60B9242E-EB37-DB2C-5675-B2F419EFF2A7}"/>
              </a:ext>
            </a:extLst>
          </p:cNvPr>
          <p:cNvSpPr/>
          <p:nvPr/>
        </p:nvSpPr>
        <p:spPr>
          <a:xfrm>
            <a:off x="5333809" y="4360037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6" name="Shape 128">
            <a:extLst>
              <a:ext uri="{FF2B5EF4-FFF2-40B4-BE49-F238E27FC236}">
                <a16:creationId xmlns:a16="http://schemas.microsoft.com/office/drawing/2014/main" id="{37B9CA2B-92A5-454C-F695-D700DFD8C614}"/>
              </a:ext>
            </a:extLst>
          </p:cNvPr>
          <p:cNvSpPr/>
          <p:nvPr/>
        </p:nvSpPr>
        <p:spPr>
          <a:xfrm>
            <a:off x="5809297" y="4360037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7" name="Shape 129">
            <a:extLst>
              <a:ext uri="{FF2B5EF4-FFF2-40B4-BE49-F238E27FC236}">
                <a16:creationId xmlns:a16="http://schemas.microsoft.com/office/drawing/2014/main" id="{27C358D8-46E9-CE34-2467-21E1B821A49E}"/>
              </a:ext>
            </a:extLst>
          </p:cNvPr>
          <p:cNvSpPr/>
          <p:nvPr/>
        </p:nvSpPr>
        <p:spPr>
          <a:xfrm>
            <a:off x="6284785" y="4360037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8" name="Shape 130">
            <a:extLst>
              <a:ext uri="{FF2B5EF4-FFF2-40B4-BE49-F238E27FC236}">
                <a16:creationId xmlns:a16="http://schemas.microsoft.com/office/drawing/2014/main" id="{50C12125-B505-EB62-C2C5-2A0C6CB5AD0D}"/>
              </a:ext>
            </a:extLst>
          </p:cNvPr>
          <p:cNvSpPr/>
          <p:nvPr/>
        </p:nvSpPr>
        <p:spPr>
          <a:xfrm>
            <a:off x="6760273" y="4360037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9" name="Shape 131">
            <a:extLst>
              <a:ext uri="{FF2B5EF4-FFF2-40B4-BE49-F238E27FC236}">
                <a16:creationId xmlns:a16="http://schemas.microsoft.com/office/drawing/2014/main" id="{F8D851AC-43C0-EE65-B4E7-54C04F6F4699}"/>
              </a:ext>
            </a:extLst>
          </p:cNvPr>
          <p:cNvSpPr/>
          <p:nvPr/>
        </p:nvSpPr>
        <p:spPr>
          <a:xfrm>
            <a:off x="7235761" y="4360037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0" name="Shape 132">
            <a:extLst>
              <a:ext uri="{FF2B5EF4-FFF2-40B4-BE49-F238E27FC236}">
                <a16:creationId xmlns:a16="http://schemas.microsoft.com/office/drawing/2014/main" id="{EE5B8653-D926-142D-D0A3-D349E5CDF95B}"/>
              </a:ext>
            </a:extLst>
          </p:cNvPr>
          <p:cNvSpPr/>
          <p:nvPr/>
        </p:nvSpPr>
        <p:spPr>
          <a:xfrm>
            <a:off x="7711249" y="4360037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1" name="Shape 133">
            <a:extLst>
              <a:ext uri="{FF2B5EF4-FFF2-40B4-BE49-F238E27FC236}">
                <a16:creationId xmlns:a16="http://schemas.microsoft.com/office/drawing/2014/main" id="{27D0DEC1-732A-14FA-B160-077369D03796}"/>
              </a:ext>
            </a:extLst>
          </p:cNvPr>
          <p:cNvSpPr/>
          <p:nvPr/>
        </p:nvSpPr>
        <p:spPr>
          <a:xfrm>
            <a:off x="8186737" y="4360037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7" name="Shape 120">
            <a:extLst>
              <a:ext uri="{FF2B5EF4-FFF2-40B4-BE49-F238E27FC236}">
                <a16:creationId xmlns:a16="http://schemas.microsoft.com/office/drawing/2014/main" id="{30BA2D7E-6C5A-CADD-50B4-459FACB2E400}"/>
              </a:ext>
            </a:extLst>
          </p:cNvPr>
          <p:cNvSpPr/>
          <p:nvPr/>
        </p:nvSpPr>
        <p:spPr>
          <a:xfrm>
            <a:off x="396049" y="3772535"/>
            <a:ext cx="2514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8" name="Text 121">
            <a:extLst>
              <a:ext uri="{FF2B5EF4-FFF2-40B4-BE49-F238E27FC236}">
                <a16:creationId xmlns:a16="http://schemas.microsoft.com/office/drawing/2014/main" id="{0795A1FA-B4B5-F25D-C472-1D8E7D8F9FBF}"/>
              </a:ext>
            </a:extLst>
          </p:cNvPr>
          <p:cNvSpPr/>
          <p:nvPr/>
        </p:nvSpPr>
        <p:spPr>
          <a:xfrm>
            <a:off x="487489" y="3772535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750">
              <a:solidFill>
                <a:srgbClr val="4A5568"/>
              </a:solidFill>
            </a:endParaRPr>
          </a:p>
          <a:p>
            <a:r>
              <a:rPr lang="en-US" sz="750">
                <a:solidFill>
                  <a:srgbClr val="4A5568"/>
                </a:solidFill>
              </a:rPr>
              <a:t>Communication and Networking</a:t>
            </a:r>
            <a:endParaRPr lang="en-US" sz="750"/>
          </a:p>
          <a:p>
            <a:pPr marL="0" indent="0">
              <a:buNone/>
            </a:pPr>
            <a:endParaRPr lang="en-US" sz="750"/>
          </a:p>
        </p:txBody>
      </p:sp>
      <p:sp>
        <p:nvSpPr>
          <p:cNvPr id="339" name="Shape 135">
            <a:extLst>
              <a:ext uri="{FF2B5EF4-FFF2-40B4-BE49-F238E27FC236}">
                <a16:creationId xmlns:a16="http://schemas.microsoft.com/office/drawing/2014/main" id="{725D06A0-50F9-149A-2D50-053905D29556}"/>
              </a:ext>
            </a:extLst>
          </p:cNvPr>
          <p:cNvSpPr/>
          <p:nvPr/>
        </p:nvSpPr>
        <p:spPr>
          <a:xfrm>
            <a:off x="396049" y="4065143"/>
            <a:ext cx="2514600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0" name="Text 136">
            <a:extLst>
              <a:ext uri="{FF2B5EF4-FFF2-40B4-BE49-F238E27FC236}">
                <a16:creationId xmlns:a16="http://schemas.microsoft.com/office/drawing/2014/main" id="{97EAF588-E596-D923-4956-9E9EE7E62FE4}"/>
              </a:ext>
            </a:extLst>
          </p:cNvPr>
          <p:cNvSpPr/>
          <p:nvPr/>
        </p:nvSpPr>
        <p:spPr>
          <a:xfrm>
            <a:off x="487489" y="4065143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>
                <a:solidFill>
                  <a:srgbClr val="4A5568"/>
                </a:solidFill>
              </a:rPr>
              <a:t>Mathematical System Modelling</a:t>
            </a:r>
            <a:endParaRPr lang="en-US" sz="750"/>
          </a:p>
        </p:txBody>
      </p:sp>
      <p:sp>
        <p:nvSpPr>
          <p:cNvPr id="341" name="Shape 120">
            <a:extLst>
              <a:ext uri="{FF2B5EF4-FFF2-40B4-BE49-F238E27FC236}">
                <a16:creationId xmlns:a16="http://schemas.microsoft.com/office/drawing/2014/main" id="{D2DBD2D5-709B-5262-D8C9-DC95D4B2F7DE}"/>
              </a:ext>
            </a:extLst>
          </p:cNvPr>
          <p:cNvSpPr/>
          <p:nvPr/>
        </p:nvSpPr>
        <p:spPr>
          <a:xfrm>
            <a:off x="396049" y="4360037"/>
            <a:ext cx="2514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2" name="Text 121">
            <a:extLst>
              <a:ext uri="{FF2B5EF4-FFF2-40B4-BE49-F238E27FC236}">
                <a16:creationId xmlns:a16="http://schemas.microsoft.com/office/drawing/2014/main" id="{1DFD3A35-7737-06AE-6CF5-32292F344DF5}"/>
              </a:ext>
            </a:extLst>
          </p:cNvPr>
          <p:cNvSpPr/>
          <p:nvPr/>
        </p:nvSpPr>
        <p:spPr>
          <a:xfrm>
            <a:off x="487489" y="4360037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>
                <a:solidFill>
                  <a:srgbClr val="4A5568"/>
                </a:solidFill>
              </a:rPr>
              <a:t>Stability and Feedback Control</a:t>
            </a:r>
            <a:endParaRPr lang="en-US" sz="750"/>
          </a:p>
        </p:txBody>
      </p:sp>
      <p:sp>
        <p:nvSpPr>
          <p:cNvPr id="343" name="Shape 149">
            <a:extLst>
              <a:ext uri="{FF2B5EF4-FFF2-40B4-BE49-F238E27FC236}">
                <a16:creationId xmlns:a16="http://schemas.microsoft.com/office/drawing/2014/main" id="{C19F007B-DEFA-D92B-AECF-F54CF17F8498}"/>
              </a:ext>
            </a:extLst>
          </p:cNvPr>
          <p:cNvSpPr/>
          <p:nvPr/>
        </p:nvSpPr>
        <p:spPr>
          <a:xfrm>
            <a:off x="6837807" y="3829210"/>
            <a:ext cx="1293811" cy="1828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44" name="Shape 149">
            <a:extLst>
              <a:ext uri="{FF2B5EF4-FFF2-40B4-BE49-F238E27FC236}">
                <a16:creationId xmlns:a16="http://schemas.microsoft.com/office/drawing/2014/main" id="{98A9C6EC-7D75-0D98-D08D-9187633AC5CB}"/>
              </a:ext>
            </a:extLst>
          </p:cNvPr>
          <p:cNvSpPr/>
          <p:nvPr/>
        </p:nvSpPr>
        <p:spPr>
          <a:xfrm>
            <a:off x="4427982" y="4125341"/>
            <a:ext cx="2295715" cy="1828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5" name="Shape 149">
            <a:extLst>
              <a:ext uri="{FF2B5EF4-FFF2-40B4-BE49-F238E27FC236}">
                <a16:creationId xmlns:a16="http://schemas.microsoft.com/office/drawing/2014/main" id="{AB93B754-85D7-AB18-AED2-4A73908427F9}"/>
              </a:ext>
            </a:extLst>
          </p:cNvPr>
          <p:cNvSpPr/>
          <p:nvPr/>
        </p:nvSpPr>
        <p:spPr>
          <a:xfrm>
            <a:off x="7747825" y="4408615"/>
            <a:ext cx="383794" cy="18288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7" name="Shape 135">
            <a:extLst>
              <a:ext uri="{FF2B5EF4-FFF2-40B4-BE49-F238E27FC236}">
                <a16:creationId xmlns:a16="http://schemas.microsoft.com/office/drawing/2014/main" id="{5D89C412-185C-7473-C646-80243BC2DA63}"/>
              </a:ext>
            </a:extLst>
          </p:cNvPr>
          <p:cNvSpPr/>
          <p:nvPr/>
        </p:nvSpPr>
        <p:spPr>
          <a:xfrm>
            <a:off x="396049" y="4652645"/>
            <a:ext cx="2514600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8" name="Text 136">
            <a:extLst>
              <a:ext uri="{FF2B5EF4-FFF2-40B4-BE49-F238E27FC236}">
                <a16:creationId xmlns:a16="http://schemas.microsoft.com/office/drawing/2014/main" id="{57EFEF4A-0D87-F895-FB00-463008DC55EE}"/>
              </a:ext>
            </a:extLst>
          </p:cNvPr>
          <p:cNvSpPr/>
          <p:nvPr/>
        </p:nvSpPr>
        <p:spPr>
          <a:xfrm>
            <a:off x="487489" y="4652645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>
                <a:solidFill>
                  <a:srgbClr val="4A5568"/>
                </a:solidFill>
              </a:rPr>
              <a:t>Intelligent Control and Final Design</a:t>
            </a:r>
            <a:endParaRPr lang="en-US" sz="750"/>
          </a:p>
        </p:txBody>
      </p:sp>
      <p:sp>
        <p:nvSpPr>
          <p:cNvPr id="349" name="Shape 137">
            <a:extLst>
              <a:ext uri="{FF2B5EF4-FFF2-40B4-BE49-F238E27FC236}">
                <a16:creationId xmlns:a16="http://schemas.microsoft.com/office/drawing/2014/main" id="{228B8BAD-F483-3568-9FE5-1479FF111385}"/>
              </a:ext>
            </a:extLst>
          </p:cNvPr>
          <p:cNvSpPr/>
          <p:nvPr/>
        </p:nvSpPr>
        <p:spPr>
          <a:xfrm>
            <a:off x="2957893" y="4652645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0" name="Shape 138">
            <a:extLst>
              <a:ext uri="{FF2B5EF4-FFF2-40B4-BE49-F238E27FC236}">
                <a16:creationId xmlns:a16="http://schemas.microsoft.com/office/drawing/2014/main" id="{86F66158-67D3-8CEF-8613-DE86B2921FE8}"/>
              </a:ext>
            </a:extLst>
          </p:cNvPr>
          <p:cNvSpPr/>
          <p:nvPr/>
        </p:nvSpPr>
        <p:spPr>
          <a:xfrm>
            <a:off x="3433381" y="4652645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1" name="Shape 139">
            <a:extLst>
              <a:ext uri="{FF2B5EF4-FFF2-40B4-BE49-F238E27FC236}">
                <a16:creationId xmlns:a16="http://schemas.microsoft.com/office/drawing/2014/main" id="{516DDAC6-1381-7B78-39D9-79E9CC888C45}"/>
              </a:ext>
            </a:extLst>
          </p:cNvPr>
          <p:cNvSpPr/>
          <p:nvPr/>
        </p:nvSpPr>
        <p:spPr>
          <a:xfrm>
            <a:off x="3908869" y="4652645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2" name="Shape 141">
            <a:extLst>
              <a:ext uri="{FF2B5EF4-FFF2-40B4-BE49-F238E27FC236}">
                <a16:creationId xmlns:a16="http://schemas.microsoft.com/office/drawing/2014/main" id="{5DB6B084-E934-0AAA-FDAC-583993270222}"/>
              </a:ext>
            </a:extLst>
          </p:cNvPr>
          <p:cNvSpPr/>
          <p:nvPr/>
        </p:nvSpPr>
        <p:spPr>
          <a:xfrm>
            <a:off x="4859845" y="4652645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3" name="Shape 142">
            <a:extLst>
              <a:ext uri="{FF2B5EF4-FFF2-40B4-BE49-F238E27FC236}">
                <a16:creationId xmlns:a16="http://schemas.microsoft.com/office/drawing/2014/main" id="{000DD5DA-3216-B6FD-6DF8-3B387CB5F72A}"/>
              </a:ext>
            </a:extLst>
          </p:cNvPr>
          <p:cNvSpPr/>
          <p:nvPr/>
        </p:nvSpPr>
        <p:spPr>
          <a:xfrm>
            <a:off x="5335333" y="4652645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4" name="Shape 143">
            <a:extLst>
              <a:ext uri="{FF2B5EF4-FFF2-40B4-BE49-F238E27FC236}">
                <a16:creationId xmlns:a16="http://schemas.microsoft.com/office/drawing/2014/main" id="{6B777B75-50E0-8CCB-92C4-F64F37F34A5C}"/>
              </a:ext>
            </a:extLst>
          </p:cNvPr>
          <p:cNvSpPr/>
          <p:nvPr/>
        </p:nvSpPr>
        <p:spPr>
          <a:xfrm>
            <a:off x="5810821" y="4652645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5" name="Shape 144">
            <a:extLst>
              <a:ext uri="{FF2B5EF4-FFF2-40B4-BE49-F238E27FC236}">
                <a16:creationId xmlns:a16="http://schemas.microsoft.com/office/drawing/2014/main" id="{6A6BB04F-3E6A-CB1E-46F6-8A68782A0F01}"/>
              </a:ext>
            </a:extLst>
          </p:cNvPr>
          <p:cNvSpPr/>
          <p:nvPr/>
        </p:nvSpPr>
        <p:spPr>
          <a:xfrm>
            <a:off x="6286309" y="4652645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6" name="Shape 145">
            <a:extLst>
              <a:ext uri="{FF2B5EF4-FFF2-40B4-BE49-F238E27FC236}">
                <a16:creationId xmlns:a16="http://schemas.microsoft.com/office/drawing/2014/main" id="{6F1D6546-DAEF-1E99-9475-0A304DA5551E}"/>
              </a:ext>
            </a:extLst>
          </p:cNvPr>
          <p:cNvSpPr/>
          <p:nvPr/>
        </p:nvSpPr>
        <p:spPr>
          <a:xfrm>
            <a:off x="6761797" y="4652645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7" name="Shape 146">
            <a:extLst>
              <a:ext uri="{FF2B5EF4-FFF2-40B4-BE49-F238E27FC236}">
                <a16:creationId xmlns:a16="http://schemas.microsoft.com/office/drawing/2014/main" id="{D67669DC-E42F-E4B6-FC5E-581E932D36B6}"/>
              </a:ext>
            </a:extLst>
          </p:cNvPr>
          <p:cNvSpPr/>
          <p:nvPr/>
        </p:nvSpPr>
        <p:spPr>
          <a:xfrm>
            <a:off x="7237285" y="4652645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8" name="Shape 147">
            <a:extLst>
              <a:ext uri="{FF2B5EF4-FFF2-40B4-BE49-F238E27FC236}">
                <a16:creationId xmlns:a16="http://schemas.microsoft.com/office/drawing/2014/main" id="{0DE997E2-F8D4-37AB-8D96-2CFFE0D40DB3}"/>
              </a:ext>
            </a:extLst>
          </p:cNvPr>
          <p:cNvSpPr/>
          <p:nvPr/>
        </p:nvSpPr>
        <p:spPr>
          <a:xfrm>
            <a:off x="7712773" y="4652645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9" name="Shape 148">
            <a:extLst>
              <a:ext uri="{FF2B5EF4-FFF2-40B4-BE49-F238E27FC236}">
                <a16:creationId xmlns:a16="http://schemas.microsoft.com/office/drawing/2014/main" id="{2A7AAFFF-FF55-6FD8-8850-E4B1538837ED}"/>
              </a:ext>
            </a:extLst>
          </p:cNvPr>
          <p:cNvSpPr/>
          <p:nvPr/>
        </p:nvSpPr>
        <p:spPr>
          <a:xfrm>
            <a:off x="8188261" y="4652645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0" name="Shape 141">
            <a:extLst>
              <a:ext uri="{FF2B5EF4-FFF2-40B4-BE49-F238E27FC236}">
                <a16:creationId xmlns:a16="http://schemas.microsoft.com/office/drawing/2014/main" id="{A9AFB926-512E-999F-5D13-F24DF2BC05DB}"/>
              </a:ext>
            </a:extLst>
          </p:cNvPr>
          <p:cNvSpPr/>
          <p:nvPr/>
        </p:nvSpPr>
        <p:spPr>
          <a:xfrm>
            <a:off x="4370289" y="4652645"/>
            <a:ext cx="475488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1" name="Shape 119">
            <a:extLst>
              <a:ext uri="{FF2B5EF4-FFF2-40B4-BE49-F238E27FC236}">
                <a16:creationId xmlns:a16="http://schemas.microsoft.com/office/drawing/2014/main" id="{A8216419-9E20-1221-E91E-F53F5C57471D}"/>
              </a:ext>
            </a:extLst>
          </p:cNvPr>
          <p:cNvSpPr/>
          <p:nvPr/>
        </p:nvSpPr>
        <p:spPr>
          <a:xfrm>
            <a:off x="8245919" y="4718304"/>
            <a:ext cx="385254" cy="1828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2" name="Shape 104">
            <a:extLst>
              <a:ext uri="{FF2B5EF4-FFF2-40B4-BE49-F238E27FC236}">
                <a16:creationId xmlns:a16="http://schemas.microsoft.com/office/drawing/2014/main" id="{9BA120D2-4A14-257F-5240-C342893155E1}"/>
              </a:ext>
            </a:extLst>
          </p:cNvPr>
          <p:cNvSpPr/>
          <p:nvPr/>
        </p:nvSpPr>
        <p:spPr>
          <a:xfrm>
            <a:off x="3002470" y="2659253"/>
            <a:ext cx="868299" cy="182880"/>
          </a:xfrm>
          <a:prstGeom prst="rect">
            <a:avLst/>
          </a:prstGeom>
          <a:solidFill>
            <a:srgbClr val="9F7AEA"/>
          </a:solidFill>
          <a:ln w="12700">
            <a:solidFill>
              <a:srgbClr val="9F7A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3" name="Shape 149">
            <a:extLst>
              <a:ext uri="{FF2B5EF4-FFF2-40B4-BE49-F238E27FC236}">
                <a16:creationId xmlns:a16="http://schemas.microsoft.com/office/drawing/2014/main" id="{7C372988-2777-F42F-48C4-C4FAEE096D78}"/>
              </a:ext>
            </a:extLst>
          </p:cNvPr>
          <p:cNvSpPr/>
          <p:nvPr/>
        </p:nvSpPr>
        <p:spPr>
          <a:xfrm>
            <a:off x="7290942" y="4125341"/>
            <a:ext cx="365125" cy="1828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4" name="Shape 149">
            <a:extLst>
              <a:ext uri="{FF2B5EF4-FFF2-40B4-BE49-F238E27FC236}">
                <a16:creationId xmlns:a16="http://schemas.microsoft.com/office/drawing/2014/main" id="{8CC13B30-6C2A-D044-CC85-4FBD97594F06}"/>
              </a:ext>
            </a:extLst>
          </p:cNvPr>
          <p:cNvSpPr/>
          <p:nvPr/>
        </p:nvSpPr>
        <p:spPr>
          <a:xfrm>
            <a:off x="4427982" y="4425284"/>
            <a:ext cx="1322387" cy="18288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8" name="Text 0">
            <a:extLst>
              <a:ext uri="{FF2B5EF4-FFF2-40B4-BE49-F238E27FC236}">
                <a16:creationId xmlns:a16="http://schemas.microsoft.com/office/drawing/2014/main" id="{786DE7FE-0DEF-E7B7-105F-957F1FF1A322}"/>
              </a:ext>
            </a:extLst>
          </p:cNvPr>
          <p:cNvSpPr/>
          <p:nvPr/>
        </p:nvSpPr>
        <p:spPr>
          <a:xfrm>
            <a:off x="428625" y="665792"/>
            <a:ext cx="3731791" cy="327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Project Schedule (Gantt)</a:t>
            </a:r>
            <a:endParaRPr lang="en-US" sz="2016"/>
          </a:p>
        </p:txBody>
      </p:sp>
    </p:spTree>
    <p:extLst>
      <p:ext uri="{BB962C8B-B14F-4D97-AF65-F5344CB8AC3E}">
        <p14:creationId xmlns:p14="http://schemas.microsoft.com/office/powerpoint/2010/main" val="1862145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65792"/>
            <a:ext cx="8286750" cy="3768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MILESTONES &amp; DELIVERABLES</a:t>
            </a:r>
            <a:endParaRPr lang="en-US" sz="2016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677D0C3D-FF55-D24E-70C7-E84830675D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53" y="1380802"/>
            <a:ext cx="8734274" cy="3390672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FA9C34AC-0711-D43E-7A28-3D3A8FD1B8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1477" y="1042625"/>
            <a:ext cx="4681045" cy="42428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802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65792"/>
            <a:ext cx="8286750" cy="3768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ISSUES, RISKS, AND ACTION ITEMS</a:t>
            </a:r>
            <a:endParaRPr lang="en-US" sz="2016"/>
          </a:p>
        </p:txBody>
      </p:sp>
      <p:sp>
        <p:nvSpPr>
          <p:cNvPr id="4" name="Shape 1"/>
          <p:cNvSpPr/>
          <p:nvPr/>
        </p:nvSpPr>
        <p:spPr>
          <a:xfrm>
            <a:off x="428625" y="1292656"/>
            <a:ext cx="3636811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8625" y="1292656"/>
            <a:ext cx="3636811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TOP ISSUES (BLOCKING PROGRESS)</a:t>
            </a:r>
            <a:endParaRPr lang="en-US" sz="885"/>
          </a:p>
        </p:txBody>
      </p:sp>
      <p:sp>
        <p:nvSpPr>
          <p:cNvPr id="6" name="Text 3"/>
          <p:cNvSpPr/>
          <p:nvPr/>
        </p:nvSpPr>
        <p:spPr>
          <a:xfrm>
            <a:off x="428625" y="1712351"/>
            <a:ext cx="171778" cy="14080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50">
              <a:solidFill>
                <a:srgbClr val="333333"/>
              </a:solidFill>
              <a:latin typeface="Inter"/>
              <a:ea typeface="Inter"/>
            </a:endParaRPr>
          </a:p>
        </p:txBody>
      </p:sp>
      <p:sp>
        <p:nvSpPr>
          <p:cNvPr id="7" name="Text 4"/>
          <p:cNvSpPr/>
          <p:nvPr/>
        </p:nvSpPr>
        <p:spPr>
          <a:xfrm>
            <a:off x="394192" y="1714603"/>
            <a:ext cx="3658246" cy="50725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just"/>
            <a:r>
              <a:rPr lang="en-US" sz="800">
                <a:latin typeface="Times New Roman"/>
                <a:ea typeface="Calibri"/>
                <a:cs typeface="Times New Roman"/>
              </a:rPr>
              <a:t>Being limited to solely software-based work, ie: research/computer vision can slow </a:t>
            </a:r>
          </a:p>
          <a:p>
            <a:pPr algn="just"/>
            <a:r>
              <a:rPr lang="en-US" sz="800">
                <a:latin typeface="Times New Roman"/>
                <a:ea typeface="Calibri"/>
                <a:cs typeface="Times New Roman"/>
              </a:rPr>
              <a:t>down performance – not having easy access to facilities to make the model, ie: 3D </a:t>
            </a:r>
          </a:p>
          <a:p>
            <a:pPr algn="just"/>
            <a:r>
              <a:rPr lang="en-US" sz="800">
                <a:latin typeface="Times New Roman"/>
                <a:ea typeface="Calibri"/>
                <a:cs typeface="Times New Roman"/>
              </a:rPr>
              <a:t>printer.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0" indent="0" algn="l">
              <a:lnSpc>
                <a:spcPts val="1200"/>
              </a:lnSpc>
              <a:buNone/>
            </a:pPr>
            <a:endParaRPr lang="en-US" sz="750">
              <a:solidFill>
                <a:srgbClr val="333333"/>
              </a:solidFill>
              <a:latin typeface="Times New Roman"/>
              <a:ea typeface="Inter"/>
              <a:cs typeface="Times New Roman"/>
            </a:endParaRPr>
          </a:p>
        </p:txBody>
      </p:sp>
      <p:sp>
        <p:nvSpPr>
          <p:cNvPr id="8" name="Text 5"/>
          <p:cNvSpPr/>
          <p:nvPr/>
        </p:nvSpPr>
        <p:spPr>
          <a:xfrm>
            <a:off x="408531" y="2123949"/>
            <a:ext cx="3691908" cy="63036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just"/>
            <a:r>
              <a:rPr lang="en-US" sz="800">
                <a:latin typeface="Times New Roman"/>
                <a:ea typeface="Calibri"/>
                <a:cs typeface="Times New Roman"/>
              </a:rPr>
              <a:t>Due to current circumstances, teammates cannot meet in person to discuss project</a:t>
            </a:r>
          </a:p>
          <a:p>
            <a:pPr algn="just"/>
            <a:r>
              <a:rPr lang="en-US" sz="800">
                <a:latin typeface="Times New Roman"/>
                <a:ea typeface="Calibri"/>
                <a:cs typeface="Times New Roman"/>
              </a:rPr>
              <a:t>planning, this has resulted in Microsoft Teams meetings occurring 1-2 times a week. </a:t>
            </a:r>
          </a:p>
          <a:p>
            <a:pPr algn="just"/>
            <a:r>
              <a:rPr lang="en-US" sz="800">
                <a:latin typeface="Times New Roman"/>
                <a:ea typeface="Calibri"/>
                <a:cs typeface="Times New Roman"/>
              </a:rPr>
              <a:t>This can be limiting as only one teammate has access to the objects that need to be</a:t>
            </a:r>
          </a:p>
          <a:p>
            <a:pPr algn="just"/>
            <a:r>
              <a:rPr lang="en-US" sz="800">
                <a:latin typeface="Times New Roman"/>
                <a:ea typeface="Calibri"/>
                <a:cs typeface="Times New Roman"/>
              </a:rPr>
              <a:t>picked up by the arm.</a:t>
            </a:r>
          </a:p>
          <a:p>
            <a:pPr marL="0" indent="0" algn="l">
              <a:lnSpc>
                <a:spcPts val="1200"/>
              </a:lnSpc>
              <a:buNone/>
            </a:pPr>
            <a:endParaRPr lang="en-US" sz="750">
              <a:solidFill>
                <a:srgbClr val="333333"/>
              </a:solidFill>
              <a:latin typeface="Times New Roman"/>
              <a:cs typeface="Times New Roman"/>
            </a:endParaRPr>
          </a:p>
        </p:txBody>
      </p:sp>
      <p:sp>
        <p:nvSpPr>
          <p:cNvPr id="9" name="Text 6"/>
          <p:cNvSpPr/>
          <p:nvPr/>
        </p:nvSpPr>
        <p:spPr>
          <a:xfrm>
            <a:off x="428625" y="1712351"/>
            <a:ext cx="500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3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34"/>
          </a:p>
        </p:txBody>
      </p:sp>
      <p:sp>
        <p:nvSpPr>
          <p:cNvPr id="10" name="Text 7"/>
          <p:cNvSpPr/>
          <p:nvPr/>
        </p:nvSpPr>
        <p:spPr>
          <a:xfrm>
            <a:off x="428625" y="2113870"/>
            <a:ext cx="500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3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34"/>
          </a:p>
        </p:txBody>
      </p:sp>
      <p:sp>
        <p:nvSpPr>
          <p:cNvPr id="12" name="Shape 9"/>
          <p:cNvSpPr/>
          <p:nvPr/>
        </p:nvSpPr>
        <p:spPr>
          <a:xfrm>
            <a:off x="444283" y="2629198"/>
            <a:ext cx="3636811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36454" y="2629197"/>
            <a:ext cx="3628982" cy="31675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MITIGATIONS / DECISIONS NEEDED</a:t>
            </a:r>
            <a:endParaRPr lang="en-US" sz="885"/>
          </a:p>
        </p:txBody>
      </p:sp>
      <p:sp>
        <p:nvSpPr>
          <p:cNvPr id="14" name="Text 11"/>
          <p:cNvSpPr/>
          <p:nvPr/>
        </p:nvSpPr>
        <p:spPr>
          <a:xfrm>
            <a:off x="436453" y="2994091"/>
            <a:ext cx="3538812" cy="38702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r>
              <a:rPr lang="en-US" sz="800">
                <a:latin typeface="Times New Roman"/>
                <a:ea typeface="Calibri"/>
                <a:cs typeface="Times New Roman"/>
              </a:rPr>
              <a:t>Focus on aspects that can be conducted without the need for printing the model 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r>
              <a:rPr lang="en-US" sz="800">
                <a:latin typeface="Times New Roman"/>
                <a:ea typeface="Calibri"/>
                <a:cs typeface="Times New Roman"/>
              </a:rPr>
              <a:t>– design/computer vision/research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>
              <a:lnSpc>
                <a:spcPts val="1200"/>
              </a:lnSpc>
            </a:pPr>
            <a:endParaRPr lang="en-US" sz="750">
              <a:solidFill>
                <a:srgbClr val="333333"/>
              </a:solidFill>
              <a:latin typeface="Inter"/>
              <a:ea typeface="Calibri"/>
              <a:cs typeface="Calibri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28625" y="3311744"/>
            <a:ext cx="3411383" cy="29642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800">
                <a:latin typeface="Times New Roman"/>
                <a:ea typeface="Calibri"/>
                <a:cs typeface="Times New Roman"/>
              </a:rPr>
              <a:t>More comprehensive meetings are required to mitigate this issue, </a:t>
            </a:r>
          </a:p>
          <a:p>
            <a:pPr>
              <a:lnSpc>
                <a:spcPts val="1200"/>
              </a:lnSpc>
            </a:pPr>
            <a:r>
              <a:rPr lang="en-US" sz="800">
                <a:latin typeface="Times New Roman"/>
                <a:ea typeface="Calibri"/>
                <a:cs typeface="Times New Roman"/>
              </a:rPr>
              <a:t>planning in advance and strong delegation of tasks needs to be implemented.</a:t>
            </a:r>
            <a:endParaRPr lang="en-US" sz="800">
              <a:latin typeface="Times New Roman"/>
              <a:cs typeface="Times New Roman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36454" y="2996343"/>
            <a:ext cx="500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3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34"/>
          </a:p>
        </p:txBody>
      </p:sp>
      <p:sp>
        <p:nvSpPr>
          <p:cNvPr id="19" name="Text 16"/>
          <p:cNvSpPr/>
          <p:nvPr/>
        </p:nvSpPr>
        <p:spPr>
          <a:xfrm>
            <a:off x="436454" y="3311744"/>
            <a:ext cx="500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3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34"/>
          </a:p>
        </p:txBody>
      </p:sp>
      <p:sp>
        <p:nvSpPr>
          <p:cNvPr id="20" name="Shape 17"/>
          <p:cNvSpPr/>
          <p:nvPr/>
        </p:nvSpPr>
        <p:spPr>
          <a:xfrm>
            <a:off x="4351186" y="1292656"/>
            <a:ext cx="4364189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351186" y="1292656"/>
            <a:ext cx="4364189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ACTION ITEMS (NEXT 7 DAYS)</a:t>
            </a:r>
            <a:endParaRPr lang="en-US" sz="885"/>
          </a:p>
        </p:txBody>
      </p:sp>
      <p:sp>
        <p:nvSpPr>
          <p:cNvPr id="22" name="Shape 19"/>
          <p:cNvSpPr/>
          <p:nvPr/>
        </p:nvSpPr>
        <p:spPr>
          <a:xfrm>
            <a:off x="4354757" y="1715923"/>
            <a:ext cx="435769" cy="282178"/>
          </a:xfrm>
          <a:prstGeom prst="rect">
            <a:avLst/>
          </a:prstGeom>
          <a:solidFill>
            <a:srgbClr val="333333"/>
          </a:solidFill>
          <a:ln w="914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354757" y="1715923"/>
            <a:ext cx="435769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ID</a:t>
            </a:r>
            <a:endParaRPr lang="en-US" sz="683"/>
          </a:p>
        </p:txBody>
      </p:sp>
      <p:sp>
        <p:nvSpPr>
          <p:cNvPr id="24" name="Shape 21"/>
          <p:cNvSpPr/>
          <p:nvPr/>
        </p:nvSpPr>
        <p:spPr>
          <a:xfrm>
            <a:off x="4790526" y="1715923"/>
            <a:ext cx="2192489" cy="282178"/>
          </a:xfrm>
          <a:prstGeom prst="rect">
            <a:avLst/>
          </a:prstGeom>
          <a:solidFill>
            <a:srgbClr val="333333"/>
          </a:solidFill>
          <a:ln w="914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790526" y="1715923"/>
            <a:ext cx="2192489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ACTION ITEM DESCRIPTION</a:t>
            </a:r>
            <a:endParaRPr lang="en-US" sz="683"/>
          </a:p>
        </p:txBody>
      </p:sp>
      <p:sp>
        <p:nvSpPr>
          <p:cNvPr id="26" name="Shape 23"/>
          <p:cNvSpPr/>
          <p:nvPr/>
        </p:nvSpPr>
        <p:spPr>
          <a:xfrm>
            <a:off x="6983016" y="1715923"/>
            <a:ext cx="864394" cy="282178"/>
          </a:xfrm>
          <a:prstGeom prst="rect">
            <a:avLst/>
          </a:prstGeom>
          <a:solidFill>
            <a:srgbClr val="333333"/>
          </a:solidFill>
          <a:ln w="914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983016" y="1715923"/>
            <a:ext cx="864394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50" b="1">
                <a:solidFill>
                  <a:srgbClr val="FFFFFF"/>
                </a:solidFill>
                <a:latin typeface="Roboto Mono"/>
                <a:ea typeface="Roboto Mono"/>
              </a:rPr>
              <a:t>MEMBER</a:t>
            </a:r>
            <a:endParaRPr lang="en-US" sz="683"/>
          </a:p>
        </p:txBody>
      </p:sp>
      <p:sp>
        <p:nvSpPr>
          <p:cNvPr id="28" name="Shape 25"/>
          <p:cNvSpPr/>
          <p:nvPr/>
        </p:nvSpPr>
        <p:spPr>
          <a:xfrm>
            <a:off x="7847409" y="1715923"/>
            <a:ext cx="864394" cy="282178"/>
          </a:xfrm>
          <a:prstGeom prst="rect">
            <a:avLst/>
          </a:prstGeom>
          <a:solidFill>
            <a:srgbClr val="333333"/>
          </a:solidFill>
          <a:ln w="914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847409" y="1715923"/>
            <a:ext cx="864394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650" b="1">
                <a:solidFill>
                  <a:srgbClr val="FFFFFF"/>
                </a:solidFill>
                <a:latin typeface="Roboto Mono"/>
                <a:ea typeface="Roboto Mono"/>
              </a:rPr>
              <a:t>WEEK DUE</a:t>
            </a:r>
            <a:endParaRPr lang="en-US" sz="683"/>
          </a:p>
        </p:txBody>
      </p:sp>
      <p:sp>
        <p:nvSpPr>
          <p:cNvPr id="30" name="Text 27"/>
          <p:cNvSpPr/>
          <p:nvPr/>
        </p:nvSpPr>
        <p:spPr>
          <a:xfrm>
            <a:off x="4354757" y="1990958"/>
            <a:ext cx="435769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A1</a:t>
            </a:r>
            <a:endParaRPr lang="en-US" sz="683"/>
          </a:p>
        </p:txBody>
      </p:sp>
      <p:sp>
        <p:nvSpPr>
          <p:cNvPr id="31" name="Text 28"/>
          <p:cNvSpPr/>
          <p:nvPr/>
        </p:nvSpPr>
        <p:spPr>
          <a:xfrm>
            <a:off x="4790526" y="1994601"/>
            <a:ext cx="2192489" cy="26417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r>
              <a:rPr lang="en-US" sz="600">
                <a:latin typeface="Times New Roman"/>
                <a:ea typeface="Calibri"/>
                <a:cs typeface="Times New Roman"/>
              </a:rPr>
              <a:t>Design a useable end effector and complete the pump selection</a:t>
            </a:r>
          </a:p>
        </p:txBody>
      </p:sp>
      <p:sp>
        <p:nvSpPr>
          <p:cNvPr id="32" name="Text 29"/>
          <p:cNvSpPr/>
          <p:nvPr/>
        </p:nvSpPr>
        <p:spPr>
          <a:xfrm>
            <a:off x="6983016" y="1985625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>
                <a:latin typeface="Times New Roman"/>
                <a:ea typeface="Calibri"/>
                <a:cs typeface="Times New Roman"/>
              </a:rPr>
              <a:t>Sabeeha</a:t>
            </a:r>
          </a:p>
        </p:txBody>
      </p:sp>
      <p:sp>
        <p:nvSpPr>
          <p:cNvPr id="33" name="Text 30"/>
          <p:cNvSpPr/>
          <p:nvPr/>
        </p:nvSpPr>
        <p:spPr>
          <a:xfrm>
            <a:off x="7847409" y="1985625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700">
                <a:solidFill>
                  <a:srgbClr val="333333"/>
                </a:solidFill>
                <a:latin typeface="Times New Roman"/>
                <a:ea typeface="Calibri"/>
                <a:cs typeface="Times New Roman"/>
              </a:rPr>
              <a:t>Week 4</a:t>
            </a:r>
          </a:p>
        </p:txBody>
      </p:sp>
      <p:sp>
        <p:nvSpPr>
          <p:cNvPr id="34" name="Shape 31"/>
          <p:cNvSpPr/>
          <p:nvPr/>
        </p:nvSpPr>
        <p:spPr>
          <a:xfrm>
            <a:off x="4354757" y="2262420"/>
            <a:ext cx="4357046" cy="271463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354757" y="2262420"/>
            <a:ext cx="435769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A2</a:t>
            </a:r>
            <a:endParaRPr lang="en-US" sz="683"/>
          </a:p>
        </p:txBody>
      </p:sp>
      <p:sp>
        <p:nvSpPr>
          <p:cNvPr id="36" name="Text 33"/>
          <p:cNvSpPr/>
          <p:nvPr/>
        </p:nvSpPr>
        <p:spPr>
          <a:xfrm>
            <a:off x="4790526" y="2199379"/>
            <a:ext cx="2192489" cy="39754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600">
                <a:solidFill>
                  <a:srgbClr val="333333"/>
                </a:solidFill>
                <a:latin typeface="Inter"/>
              </a:rPr>
              <a:t>Exploring computer vision models and develop a model that can be used to test on</a:t>
            </a:r>
            <a:endParaRPr lang="en-US" sz="600">
              <a:ea typeface="Calibri"/>
              <a:cs typeface="Calibri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6983016" y="2257087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>
                <a:solidFill>
                  <a:srgbClr val="333333"/>
                </a:solidFill>
                <a:latin typeface="Inter"/>
              </a:rPr>
              <a:t>Maher</a:t>
            </a:r>
            <a:endParaRPr lang="en-US" sz="700">
              <a:latin typeface="Inter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7847409" y="2257087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700">
                <a:solidFill>
                  <a:srgbClr val="333333"/>
                </a:solidFill>
                <a:latin typeface="Inter"/>
              </a:rPr>
              <a:t>Week 4</a:t>
            </a:r>
          </a:p>
        </p:txBody>
      </p:sp>
      <p:sp>
        <p:nvSpPr>
          <p:cNvPr id="39" name="Text 36"/>
          <p:cNvSpPr/>
          <p:nvPr/>
        </p:nvSpPr>
        <p:spPr>
          <a:xfrm>
            <a:off x="4354757" y="2533883"/>
            <a:ext cx="435769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A3</a:t>
            </a:r>
            <a:endParaRPr lang="en-US" sz="683"/>
          </a:p>
        </p:txBody>
      </p:sp>
      <p:sp>
        <p:nvSpPr>
          <p:cNvPr id="40" name="Text 37"/>
          <p:cNvSpPr/>
          <p:nvPr/>
        </p:nvSpPr>
        <p:spPr>
          <a:xfrm>
            <a:off x="4790526" y="2525643"/>
            <a:ext cx="2192489" cy="39754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600">
                <a:solidFill>
                  <a:srgbClr val="333333"/>
                </a:solidFill>
                <a:latin typeface="Inter"/>
              </a:rPr>
              <a:t>Investigate motion control strategy, torque estimations, suction system and gripper 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6983016" y="2528550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>
                <a:solidFill>
                  <a:srgbClr val="333333"/>
                </a:solidFill>
                <a:latin typeface="Inter"/>
              </a:rPr>
              <a:t>Basel</a:t>
            </a:r>
          </a:p>
        </p:txBody>
      </p:sp>
      <p:sp>
        <p:nvSpPr>
          <p:cNvPr id="42" name="Text 39"/>
          <p:cNvSpPr/>
          <p:nvPr/>
        </p:nvSpPr>
        <p:spPr>
          <a:xfrm>
            <a:off x="7847409" y="2528550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700">
                <a:solidFill>
                  <a:srgbClr val="333333"/>
                </a:solidFill>
                <a:latin typeface="Inter"/>
              </a:rPr>
              <a:t>Week 4</a:t>
            </a:r>
            <a:endParaRPr lang="en-US" sz="727"/>
          </a:p>
        </p:txBody>
      </p:sp>
      <p:sp>
        <p:nvSpPr>
          <p:cNvPr id="43" name="Shape 40"/>
          <p:cNvSpPr/>
          <p:nvPr/>
        </p:nvSpPr>
        <p:spPr>
          <a:xfrm>
            <a:off x="4354757" y="2805345"/>
            <a:ext cx="4357046" cy="271463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4354757" y="2805345"/>
            <a:ext cx="435769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A4</a:t>
            </a:r>
            <a:endParaRPr lang="en-US" sz="683"/>
          </a:p>
        </p:txBody>
      </p:sp>
      <p:sp>
        <p:nvSpPr>
          <p:cNvPr id="45" name="Text 42"/>
          <p:cNvSpPr/>
          <p:nvPr/>
        </p:nvSpPr>
        <p:spPr>
          <a:xfrm>
            <a:off x="4790526" y="2800012"/>
            <a:ext cx="2192489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600" err="1">
                <a:solidFill>
                  <a:srgbClr val="333333"/>
                </a:solidFill>
                <a:latin typeface="Inter"/>
              </a:rPr>
              <a:t>Finalise</a:t>
            </a:r>
            <a:r>
              <a:rPr lang="en-US" sz="600">
                <a:solidFill>
                  <a:srgbClr val="333333"/>
                </a:solidFill>
                <a:latin typeface="Inter"/>
              </a:rPr>
              <a:t> sensor selection and integration in system</a:t>
            </a:r>
            <a:endParaRPr lang="en-US" sz="600">
              <a:ea typeface="Calibri"/>
              <a:cs typeface="Calibri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6983016" y="2800012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>
                <a:solidFill>
                  <a:srgbClr val="333333"/>
                </a:solidFill>
                <a:latin typeface="Inter"/>
              </a:rPr>
              <a:t>Ahmad</a:t>
            </a:r>
          </a:p>
        </p:txBody>
      </p:sp>
      <p:sp>
        <p:nvSpPr>
          <p:cNvPr id="47" name="Text 44"/>
          <p:cNvSpPr/>
          <p:nvPr/>
        </p:nvSpPr>
        <p:spPr>
          <a:xfrm>
            <a:off x="7847409" y="2800012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700">
                <a:solidFill>
                  <a:srgbClr val="333333"/>
                </a:solidFill>
                <a:latin typeface="Inter"/>
              </a:rPr>
              <a:t>Week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2382971"/>
            <a:ext cx="7715250" cy="753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145" b="1" kern="0" spc="-2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INDIVIDUAL UPDATES</a:t>
            </a:r>
            <a:endParaRPr lang="en-US" sz="4145"/>
          </a:p>
        </p:txBody>
      </p:sp>
      <p:sp>
        <p:nvSpPr>
          <p:cNvPr id="4" name="Text 1"/>
          <p:cNvSpPr/>
          <p:nvPr/>
        </p:nvSpPr>
        <p:spPr>
          <a:xfrm>
            <a:off x="771525" y="3279511"/>
            <a:ext cx="77152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>
                <a:solidFill>
                  <a:srgbClr val="FF572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WEEKLY PROGRESS &amp; NEXT STEPS</a:t>
            </a:r>
            <a:endParaRPr lang="en-US" sz="1193"/>
          </a:p>
        </p:txBody>
      </p:sp>
      <p:sp>
        <p:nvSpPr>
          <p:cNvPr id="5" name="Text 2"/>
          <p:cNvSpPr/>
          <p:nvPr/>
        </p:nvSpPr>
        <p:spPr>
          <a:xfrm>
            <a:off x="942975" y="3677776"/>
            <a:ext cx="264318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>
                <a:solidFill>
                  <a:srgbClr val="99999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MEMBER 1</a:t>
            </a:r>
            <a:endParaRPr lang="en-US" sz="727"/>
          </a:p>
        </p:txBody>
      </p:sp>
      <p:sp>
        <p:nvSpPr>
          <p:cNvPr id="6" name="Text 3"/>
          <p:cNvSpPr/>
          <p:nvPr/>
        </p:nvSpPr>
        <p:spPr>
          <a:xfrm>
            <a:off x="942975" y="3838510"/>
            <a:ext cx="3693319" cy="1696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Maher Abo Abed 			</a:t>
            </a:r>
            <a:endParaRPr lang="en-US" sz="1050"/>
          </a:p>
        </p:txBody>
      </p:sp>
      <p:sp>
        <p:nvSpPr>
          <p:cNvPr id="7" name="Text 4"/>
          <p:cNvSpPr/>
          <p:nvPr/>
        </p:nvSpPr>
        <p:spPr>
          <a:xfrm>
            <a:off x="3843338" y="3677776"/>
            <a:ext cx="264318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>
                <a:solidFill>
                  <a:srgbClr val="99999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MEMBER 2</a:t>
            </a:r>
            <a:endParaRPr lang="en-US" sz="727"/>
          </a:p>
        </p:txBody>
      </p:sp>
      <p:sp>
        <p:nvSpPr>
          <p:cNvPr id="8" name="Text 5"/>
          <p:cNvSpPr/>
          <p:nvPr/>
        </p:nvSpPr>
        <p:spPr>
          <a:xfrm>
            <a:off x="3843338" y="3838510"/>
            <a:ext cx="1683153" cy="1696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Sabeeha Zainab Hasham</a:t>
            </a:r>
            <a:endParaRPr lang="en-US" sz="1050"/>
          </a:p>
        </p:txBody>
      </p:sp>
      <p:sp>
        <p:nvSpPr>
          <p:cNvPr id="9" name="Text 6"/>
          <p:cNvSpPr/>
          <p:nvPr/>
        </p:nvSpPr>
        <p:spPr>
          <a:xfrm>
            <a:off x="942975" y="4142119"/>
            <a:ext cx="264318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>
                <a:solidFill>
                  <a:srgbClr val="99999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MEMBER 3</a:t>
            </a:r>
            <a:endParaRPr lang="en-US" sz="727"/>
          </a:p>
        </p:txBody>
      </p:sp>
      <p:sp>
        <p:nvSpPr>
          <p:cNvPr id="10" name="Text 7"/>
          <p:cNvSpPr/>
          <p:nvPr/>
        </p:nvSpPr>
        <p:spPr>
          <a:xfrm>
            <a:off x="942975" y="4302854"/>
            <a:ext cx="1522853" cy="1696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Basel Feras </a:t>
            </a:r>
            <a:r>
              <a:rPr lang="en-US" sz="1050" err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Ghunaim</a:t>
            </a:r>
            <a:endParaRPr lang="en-US" sz="1050"/>
          </a:p>
        </p:txBody>
      </p:sp>
      <p:sp>
        <p:nvSpPr>
          <p:cNvPr id="11" name="Text 8"/>
          <p:cNvSpPr/>
          <p:nvPr/>
        </p:nvSpPr>
        <p:spPr>
          <a:xfrm>
            <a:off x="3843338" y="4142119"/>
            <a:ext cx="264318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>
                <a:solidFill>
                  <a:srgbClr val="99999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MEMBER 4</a:t>
            </a:r>
            <a:endParaRPr lang="en-US" sz="727"/>
          </a:p>
        </p:txBody>
      </p:sp>
      <p:sp>
        <p:nvSpPr>
          <p:cNvPr id="12" name="Text 9"/>
          <p:cNvSpPr/>
          <p:nvPr/>
        </p:nvSpPr>
        <p:spPr>
          <a:xfrm>
            <a:off x="3843338" y="4302854"/>
            <a:ext cx="1683153" cy="1696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Ahmad Nasser </a:t>
            </a:r>
            <a:r>
              <a:rPr lang="en-US" sz="1050" err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Alshehhi</a:t>
            </a:r>
            <a:endParaRPr lang="en-US" sz="10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2962349" cy="26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MEMBER 1: Maher Abo Abed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28625" y="1101923"/>
            <a:ext cx="4843463" cy="26431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1101923"/>
            <a:ext cx="28575" cy="26431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28625" y="1101923"/>
            <a:ext cx="4843463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ACCOMPLISHED (SINCE LAST REPORT)</a:t>
            </a:r>
            <a:endParaRPr lang="en-US" sz="784"/>
          </a:p>
        </p:txBody>
      </p:sp>
      <p:sp>
        <p:nvSpPr>
          <p:cNvPr id="7" name="Text 4"/>
          <p:cNvSpPr/>
          <p:nvPr/>
        </p:nvSpPr>
        <p:spPr>
          <a:xfrm>
            <a:off x="428625" y="1473398"/>
            <a:ext cx="3655040" cy="14183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>
                <a:solidFill>
                  <a:srgbClr val="333333"/>
                </a:solidFill>
                <a:latin typeface="Inter" pitchFamily="34" charset="0"/>
                <a:ea typeface="Inter" pitchFamily="34" charset="-122"/>
              </a:rPr>
              <a:t>Tested computer vision models such as YOLOv3, YOLOv4 through MATLABs Toolboxes.</a:t>
            </a:r>
            <a:endParaRPr lang="en-US" sz="780"/>
          </a:p>
        </p:txBody>
      </p:sp>
      <p:sp>
        <p:nvSpPr>
          <p:cNvPr id="8" name="Text 5"/>
          <p:cNvSpPr/>
          <p:nvPr/>
        </p:nvSpPr>
        <p:spPr>
          <a:xfrm>
            <a:off x="428625" y="1680567"/>
            <a:ext cx="4355551" cy="14183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>
                <a:solidFill>
                  <a:srgbClr val="333333"/>
                </a:solidFill>
                <a:latin typeface="Inter" pitchFamily="34" charset="0"/>
                <a:ea typeface="Inter" pitchFamily="34" charset="-122"/>
              </a:rPr>
              <a:t>Explored the need and the types of angular displacement sensors that can be used and their sub-types.</a:t>
            </a:r>
            <a:endParaRPr lang="en-US" sz="780"/>
          </a:p>
        </p:txBody>
      </p:sp>
      <p:sp>
        <p:nvSpPr>
          <p:cNvPr id="9" name="Text 6"/>
          <p:cNvSpPr/>
          <p:nvPr/>
        </p:nvSpPr>
        <p:spPr>
          <a:xfrm>
            <a:off x="428625" y="1887736"/>
            <a:ext cx="2491259" cy="14183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Identified optical incremental encoder as feasible option.</a:t>
            </a:r>
            <a:endParaRPr lang="en-US" sz="780"/>
          </a:p>
        </p:txBody>
      </p:sp>
      <p:sp>
        <p:nvSpPr>
          <p:cNvPr id="10" name="Text 7"/>
          <p:cNvSpPr/>
          <p:nvPr/>
        </p:nvSpPr>
        <p:spPr>
          <a:xfrm>
            <a:off x="428625" y="1473398"/>
            <a:ext cx="500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3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34"/>
          </a:p>
        </p:txBody>
      </p:sp>
      <p:sp>
        <p:nvSpPr>
          <p:cNvPr id="11" name="Text 8"/>
          <p:cNvSpPr/>
          <p:nvPr/>
        </p:nvSpPr>
        <p:spPr>
          <a:xfrm>
            <a:off x="428625" y="1680567"/>
            <a:ext cx="500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3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34"/>
          </a:p>
        </p:txBody>
      </p:sp>
      <p:sp>
        <p:nvSpPr>
          <p:cNvPr id="12" name="Text 9"/>
          <p:cNvSpPr/>
          <p:nvPr/>
        </p:nvSpPr>
        <p:spPr>
          <a:xfrm>
            <a:off x="428625" y="1887736"/>
            <a:ext cx="500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3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34"/>
          </a:p>
        </p:txBody>
      </p:sp>
      <p:sp>
        <p:nvSpPr>
          <p:cNvPr id="13" name="Shape 10"/>
          <p:cNvSpPr/>
          <p:nvPr/>
        </p:nvSpPr>
        <p:spPr>
          <a:xfrm>
            <a:off x="428625" y="2216348"/>
            <a:ext cx="4843463" cy="26431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28625" y="2216348"/>
            <a:ext cx="28575" cy="26431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28625" y="2216348"/>
            <a:ext cx="4843463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 PROGRESS</a:t>
            </a:r>
            <a:endParaRPr lang="en-US" sz="784"/>
          </a:p>
        </p:txBody>
      </p:sp>
      <p:sp>
        <p:nvSpPr>
          <p:cNvPr id="16" name="Text 13"/>
          <p:cNvSpPr/>
          <p:nvPr/>
        </p:nvSpPr>
        <p:spPr>
          <a:xfrm>
            <a:off x="428625" y="2587823"/>
            <a:ext cx="4672946" cy="14183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a model that can be used for testing and familiarization of the different sub-systems and components..</a:t>
            </a:r>
            <a:endParaRPr lang="en-US" sz="780"/>
          </a:p>
        </p:txBody>
      </p:sp>
      <p:sp>
        <p:nvSpPr>
          <p:cNvPr id="17" name="Text 14"/>
          <p:cNvSpPr/>
          <p:nvPr/>
        </p:nvSpPr>
        <p:spPr>
          <a:xfrm>
            <a:off x="428625" y="2794992"/>
            <a:ext cx="4772332" cy="14183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>
                <a:solidFill>
                  <a:srgbClr val="333333"/>
                </a:solidFill>
                <a:latin typeface="Inter" pitchFamily="34" charset="0"/>
                <a:ea typeface="Inter" pitchFamily="34" charset="-122"/>
              </a:rPr>
              <a:t>Exploring various computer vision models that can be used, as an alternative to training an AI model from scratch.</a:t>
            </a:r>
            <a:endParaRPr lang="en-US" sz="780"/>
          </a:p>
        </p:txBody>
      </p:sp>
      <p:sp>
        <p:nvSpPr>
          <p:cNvPr id="18" name="Text 15"/>
          <p:cNvSpPr/>
          <p:nvPr/>
        </p:nvSpPr>
        <p:spPr>
          <a:xfrm>
            <a:off x="428625" y="2587823"/>
            <a:ext cx="500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3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34"/>
          </a:p>
        </p:txBody>
      </p:sp>
      <p:sp>
        <p:nvSpPr>
          <p:cNvPr id="19" name="Text 16"/>
          <p:cNvSpPr/>
          <p:nvPr/>
        </p:nvSpPr>
        <p:spPr>
          <a:xfrm>
            <a:off x="428625" y="2794992"/>
            <a:ext cx="500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3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34"/>
          </a:p>
        </p:txBody>
      </p:sp>
      <p:sp>
        <p:nvSpPr>
          <p:cNvPr id="20" name="Shape 17"/>
          <p:cNvSpPr/>
          <p:nvPr/>
        </p:nvSpPr>
        <p:spPr>
          <a:xfrm>
            <a:off x="428625" y="3123605"/>
            <a:ext cx="4843463" cy="26431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28625" y="3123605"/>
            <a:ext cx="28575" cy="26431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28625" y="3123605"/>
            <a:ext cx="4843463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NEXT WEEK PLAN</a:t>
            </a:r>
            <a:endParaRPr lang="en-US" sz="784"/>
          </a:p>
        </p:txBody>
      </p:sp>
      <p:sp>
        <p:nvSpPr>
          <p:cNvPr id="23" name="Text 20"/>
          <p:cNvSpPr/>
          <p:nvPr/>
        </p:nvSpPr>
        <p:spPr>
          <a:xfrm>
            <a:off x="428625" y="3495080"/>
            <a:ext cx="3069943" cy="14183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Finalize selection of most components through an objective evaluation.</a:t>
            </a:r>
            <a:endParaRPr lang="en-US" sz="780"/>
          </a:p>
        </p:txBody>
      </p:sp>
      <p:sp>
        <p:nvSpPr>
          <p:cNvPr id="24" name="Text 21"/>
          <p:cNvSpPr/>
          <p:nvPr/>
        </p:nvSpPr>
        <p:spPr>
          <a:xfrm>
            <a:off x="428625" y="3702248"/>
            <a:ext cx="2869568" cy="14183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significant progress on a CAD model for a testing prototype. .</a:t>
            </a:r>
            <a:endParaRPr lang="en-US" sz="780"/>
          </a:p>
        </p:txBody>
      </p:sp>
      <p:sp>
        <p:nvSpPr>
          <p:cNvPr id="25" name="Text 22"/>
          <p:cNvSpPr/>
          <p:nvPr/>
        </p:nvSpPr>
        <p:spPr>
          <a:xfrm>
            <a:off x="428625" y="3495080"/>
            <a:ext cx="500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3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34"/>
          </a:p>
        </p:txBody>
      </p:sp>
      <p:sp>
        <p:nvSpPr>
          <p:cNvPr id="26" name="Text 23"/>
          <p:cNvSpPr/>
          <p:nvPr/>
        </p:nvSpPr>
        <p:spPr>
          <a:xfrm>
            <a:off x="428625" y="3702248"/>
            <a:ext cx="500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3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34"/>
          </a:p>
        </p:txBody>
      </p:sp>
      <p:sp>
        <p:nvSpPr>
          <p:cNvPr id="27" name="Shape 24"/>
          <p:cNvSpPr/>
          <p:nvPr/>
        </p:nvSpPr>
        <p:spPr>
          <a:xfrm>
            <a:off x="5486400" y="1101923"/>
            <a:ext cx="3228975" cy="26431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486400" y="1101923"/>
            <a:ext cx="28575" cy="26431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486400" y="1101923"/>
            <a:ext cx="3228975" cy="26943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EVIDENCE</a:t>
            </a:r>
            <a:endParaRPr lang="en-US" sz="784"/>
          </a:p>
        </p:txBody>
      </p:sp>
      <p:sp>
        <p:nvSpPr>
          <p:cNvPr id="30" name="Shape 27"/>
          <p:cNvSpPr/>
          <p:nvPr/>
        </p:nvSpPr>
        <p:spPr>
          <a:xfrm>
            <a:off x="5486400" y="1473398"/>
            <a:ext cx="3228975" cy="1385888"/>
          </a:xfrm>
          <a:prstGeom prst="rect">
            <a:avLst/>
          </a:prstGeom>
          <a:solidFill>
            <a:srgbClr val="F9F9F9"/>
          </a:solidFill>
          <a:ln w="18288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479381" y="1983284"/>
            <a:ext cx="124301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>
                <a:solidFill>
                  <a:srgbClr val="99999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[ VISUAL EVIDENCE AREA ]</a:t>
            </a:r>
            <a:endParaRPr lang="en-US" sz="621"/>
          </a:p>
        </p:txBody>
      </p:sp>
      <p:sp>
        <p:nvSpPr>
          <p:cNvPr id="32" name="Text 29"/>
          <p:cNvSpPr/>
          <p:nvPr/>
        </p:nvSpPr>
        <p:spPr>
          <a:xfrm>
            <a:off x="5987355" y="2208312"/>
            <a:ext cx="222706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>
                <a:solidFill>
                  <a:srgbClr val="99999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(Insert Screenshot, CAD View, or Data Plot)</a:t>
            </a:r>
            <a:endParaRPr lang="en-US" sz="621"/>
          </a:p>
        </p:txBody>
      </p:sp>
      <p:sp>
        <p:nvSpPr>
          <p:cNvPr id="33" name="Shape 30"/>
          <p:cNvSpPr/>
          <p:nvPr/>
        </p:nvSpPr>
        <p:spPr>
          <a:xfrm>
            <a:off x="5486400" y="3637955"/>
            <a:ext cx="3228975" cy="26431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5486400" y="3637955"/>
            <a:ext cx="28575" cy="26431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486400" y="3637955"/>
            <a:ext cx="3228975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HELP NEEDED / QUESTIONS</a:t>
            </a:r>
            <a:endParaRPr lang="en-US" sz="784"/>
          </a:p>
        </p:txBody>
      </p:sp>
      <p:sp>
        <p:nvSpPr>
          <p:cNvPr id="36" name="Shape 33"/>
          <p:cNvSpPr/>
          <p:nvPr/>
        </p:nvSpPr>
        <p:spPr>
          <a:xfrm>
            <a:off x="5486400" y="4009430"/>
            <a:ext cx="3228975" cy="957263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5486400" y="4009430"/>
            <a:ext cx="3228975" cy="28575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593556" y="4116586"/>
            <a:ext cx="3014663" cy="29572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access to university equipment and facility possible throughout the break?</a:t>
            </a:r>
            <a:endParaRPr lang="en-US" sz="780"/>
          </a:p>
        </p:txBody>
      </p:sp>
      <p:sp>
        <p:nvSpPr>
          <p:cNvPr id="39" name="Text 36"/>
          <p:cNvSpPr/>
          <p:nvPr/>
        </p:nvSpPr>
        <p:spPr>
          <a:xfrm>
            <a:off x="5593556" y="4473773"/>
            <a:ext cx="3014663" cy="29572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>
                <a:solidFill>
                  <a:srgbClr val="333333"/>
                </a:solidFill>
                <a:latin typeface="Inter" pitchFamily="34" charset="0"/>
                <a:ea typeface="Inter" pitchFamily="34" charset="-122"/>
              </a:rPr>
              <a:t>Can a reliable system be constructed without the use of angular displacement sensors such as encoders?</a:t>
            </a:r>
            <a:endParaRPr lang="en-US" sz="780"/>
          </a:p>
        </p:txBody>
      </p:sp>
      <p:sp>
        <p:nvSpPr>
          <p:cNvPr id="40" name="Text 37"/>
          <p:cNvSpPr/>
          <p:nvPr/>
        </p:nvSpPr>
        <p:spPr>
          <a:xfrm>
            <a:off x="5593556" y="4116586"/>
            <a:ext cx="500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3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34"/>
          </a:p>
        </p:txBody>
      </p:sp>
      <p:sp>
        <p:nvSpPr>
          <p:cNvPr id="41" name="Text 38"/>
          <p:cNvSpPr/>
          <p:nvPr/>
        </p:nvSpPr>
        <p:spPr>
          <a:xfrm>
            <a:off x="5593556" y="4473773"/>
            <a:ext cx="500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3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34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16E987B5-B052-D941-6F9F-9EEF3D3230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5129" y="1473398"/>
            <a:ext cx="3228975" cy="20145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42072"/>
            <a:ext cx="3446456" cy="2877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b="1">
                <a:solidFill>
                  <a:srgbClr val="000000"/>
                </a:solidFill>
                <a:latin typeface="Roboto Mono"/>
                <a:ea typeface="Roboto Mono"/>
                <a:cs typeface="Roboto Mono" pitchFamily="34" charset="-120"/>
              </a:rPr>
              <a:t>MEMBER 2: Sabeeha Hasham </a:t>
            </a:r>
            <a:endParaRPr lang="en-US">
              <a:latin typeface="Roboto Mono"/>
              <a:ea typeface="Roboto Mono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28625" y="1159994"/>
            <a:ext cx="4843463" cy="26431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1159994"/>
            <a:ext cx="28575" cy="26431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28625" y="1159994"/>
            <a:ext cx="4843463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ACCOMPLISHED (SINCE LAST REPORT)</a:t>
            </a:r>
            <a:endParaRPr lang="en-US" sz="784"/>
          </a:p>
        </p:txBody>
      </p:sp>
      <p:sp>
        <p:nvSpPr>
          <p:cNvPr id="7" name="Text 4"/>
          <p:cNvSpPr/>
          <p:nvPr/>
        </p:nvSpPr>
        <p:spPr>
          <a:xfrm>
            <a:off x="428625" y="1510038"/>
            <a:ext cx="6340069" cy="12952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>
              <a:lnSpc>
                <a:spcPts val="1100"/>
              </a:lnSpc>
            </a:pPr>
            <a:endParaRPr lang="en-US" sz="700">
              <a:solidFill>
                <a:srgbClr val="333333"/>
              </a:solidFill>
              <a:latin typeface="Inter"/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350337" y="1495813"/>
            <a:ext cx="4741690" cy="82202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r>
              <a:rPr lang="en-US" sz="900">
                <a:solidFill>
                  <a:srgbClr val="4A5568"/>
                </a:solidFill>
                <a:latin typeface="Times New Roman"/>
                <a:ea typeface="Calibri"/>
                <a:cs typeface="Times New Roman"/>
              </a:rPr>
              <a:t>Comprehensive motor selection and analysis using PCC method, 3 options investigated in 6 categories </a:t>
            </a:r>
            <a:endParaRPr lang="en-US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900">
                <a:solidFill>
                  <a:srgbClr val="4A5568"/>
                </a:solidFill>
                <a:latin typeface="Times New Roman"/>
                <a:ea typeface="Calibri"/>
                <a:cs typeface="Times New Roman"/>
              </a:rPr>
              <a:t>– weighted decision matrices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r>
              <a:rPr lang="en-US" sz="900">
                <a:solidFill>
                  <a:srgbClr val="4A5568"/>
                </a:solidFill>
                <a:latin typeface="Times New Roman"/>
                <a:ea typeface="Calibri"/>
                <a:cs typeface="Times New Roman"/>
              </a:rPr>
              <a:t>Defined the criteria required for the pump selection and initiated an analysis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900">
                <a:solidFill>
                  <a:srgbClr val="4A5568"/>
                </a:solidFill>
                <a:latin typeface="Times New Roman"/>
                <a:ea typeface="Calibri"/>
                <a:cs typeface="Times New Roman"/>
              </a:rPr>
              <a:t>Started looking at potential end effectors – potentially to use a rack and pinion and servo motor</a:t>
            </a:r>
            <a:endParaRPr lang="en-US">
              <a:latin typeface="Times New Roman"/>
              <a:cs typeface="Times New Roman"/>
            </a:endParaRPr>
          </a:p>
          <a:p>
            <a:pPr marL="0" indent="0" algn="l">
              <a:lnSpc>
                <a:spcPts val="1100"/>
              </a:lnSpc>
              <a:buNone/>
            </a:pPr>
            <a:endParaRPr lang="en-US" sz="700">
              <a:solidFill>
                <a:srgbClr val="333333"/>
              </a:solidFill>
              <a:latin typeface="Times New Roman"/>
              <a:cs typeface="Times New Roman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28625" y="1510038"/>
            <a:ext cx="4822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83"/>
          </a:p>
        </p:txBody>
      </p:sp>
      <p:sp>
        <p:nvSpPr>
          <p:cNvPr id="11" name="Text 8"/>
          <p:cNvSpPr/>
          <p:nvPr/>
        </p:nvSpPr>
        <p:spPr>
          <a:xfrm>
            <a:off x="428625" y="1707189"/>
            <a:ext cx="65" cy="127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650" b="1">
              <a:solidFill>
                <a:srgbClr val="FF5722"/>
              </a:solidFill>
              <a:latin typeface="Inter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28625" y="1904340"/>
            <a:ext cx="4822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83" dirty="0"/>
          </a:p>
        </p:txBody>
      </p:sp>
      <p:sp>
        <p:nvSpPr>
          <p:cNvPr id="13" name="Shape 10"/>
          <p:cNvSpPr/>
          <p:nvPr/>
        </p:nvSpPr>
        <p:spPr>
          <a:xfrm>
            <a:off x="428625" y="2244365"/>
            <a:ext cx="4843463" cy="26431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28625" y="2244365"/>
            <a:ext cx="28575" cy="26431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28625" y="2244365"/>
            <a:ext cx="4843463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 PROGRESS</a:t>
            </a:r>
            <a:endParaRPr lang="en-US" sz="784"/>
          </a:p>
        </p:txBody>
      </p:sp>
      <p:sp>
        <p:nvSpPr>
          <p:cNvPr id="16" name="Text 13"/>
          <p:cNvSpPr/>
          <p:nvPr/>
        </p:nvSpPr>
        <p:spPr>
          <a:xfrm>
            <a:off x="428625" y="2594409"/>
            <a:ext cx="2760564" cy="406522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r>
              <a:rPr lang="en-US" sz="900">
                <a:solidFill>
                  <a:srgbClr val="4A5568"/>
                </a:solidFill>
                <a:latin typeface="Times New Roman"/>
                <a:ea typeface="Calibri"/>
                <a:cs typeface="Times New Roman"/>
              </a:rPr>
              <a:t>Completion of pump selection - in progress</a:t>
            </a:r>
            <a:endParaRPr lang="en-US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900">
                <a:solidFill>
                  <a:srgbClr val="4A5568"/>
                </a:solidFill>
                <a:latin typeface="Times New Roman"/>
                <a:ea typeface="Calibri"/>
                <a:cs typeface="Times New Roman"/>
              </a:rPr>
              <a:t>Completion of the end effector design to be completed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0" indent="0" algn="l">
              <a:lnSpc>
                <a:spcPts val="1100"/>
              </a:lnSpc>
              <a:buNone/>
            </a:pPr>
            <a:endParaRPr lang="en-US" sz="7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28625" y="2594409"/>
            <a:ext cx="4822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83"/>
          </a:p>
        </p:txBody>
      </p:sp>
      <p:sp>
        <p:nvSpPr>
          <p:cNvPr id="19" name="Text 16"/>
          <p:cNvSpPr/>
          <p:nvPr/>
        </p:nvSpPr>
        <p:spPr>
          <a:xfrm>
            <a:off x="428625" y="2744587"/>
            <a:ext cx="4822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83"/>
          </a:p>
        </p:txBody>
      </p:sp>
      <p:sp>
        <p:nvSpPr>
          <p:cNvPr id="20" name="Shape 17"/>
          <p:cNvSpPr/>
          <p:nvPr/>
        </p:nvSpPr>
        <p:spPr>
          <a:xfrm>
            <a:off x="428625" y="3131586"/>
            <a:ext cx="4843463" cy="26431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28625" y="3131586"/>
            <a:ext cx="28575" cy="26431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28625" y="3131586"/>
            <a:ext cx="4843463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NEXT WEEK PLAN</a:t>
            </a:r>
            <a:endParaRPr lang="en-US" sz="784"/>
          </a:p>
        </p:txBody>
      </p:sp>
      <p:sp>
        <p:nvSpPr>
          <p:cNvPr id="23" name="Text 20"/>
          <p:cNvSpPr/>
          <p:nvPr/>
        </p:nvSpPr>
        <p:spPr>
          <a:xfrm>
            <a:off x="428625" y="3481629"/>
            <a:ext cx="2701252" cy="132857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>
              <a:lnSpc>
                <a:spcPts val="1100"/>
              </a:lnSpc>
            </a:pPr>
            <a:r>
              <a:rPr lang="en-US" sz="900">
                <a:solidFill>
                  <a:srgbClr val="4A5568"/>
                </a:solidFill>
                <a:latin typeface="Times New Roman"/>
                <a:ea typeface="Calibri"/>
                <a:cs typeface="Times New Roman"/>
              </a:rPr>
              <a:t>Research and on computer vision – potential trial runs.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28625" y="3481629"/>
            <a:ext cx="4822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83"/>
          </a:p>
        </p:txBody>
      </p:sp>
      <p:sp>
        <p:nvSpPr>
          <p:cNvPr id="27" name="Shape 24"/>
          <p:cNvSpPr/>
          <p:nvPr/>
        </p:nvSpPr>
        <p:spPr>
          <a:xfrm>
            <a:off x="5486400" y="1159994"/>
            <a:ext cx="3228975" cy="26431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486400" y="1159994"/>
            <a:ext cx="28575" cy="26431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486400" y="1159994"/>
            <a:ext cx="3228975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EVIDENCE (SHOW, DON'T TELL)</a:t>
            </a:r>
            <a:endParaRPr lang="en-US" sz="784"/>
          </a:p>
        </p:txBody>
      </p:sp>
      <p:sp>
        <p:nvSpPr>
          <p:cNvPr id="30" name="Shape 27"/>
          <p:cNvSpPr/>
          <p:nvPr/>
        </p:nvSpPr>
        <p:spPr>
          <a:xfrm>
            <a:off x="5486400" y="1510038"/>
            <a:ext cx="3228975" cy="2524088"/>
          </a:xfrm>
          <a:prstGeom prst="rect">
            <a:avLst/>
          </a:prstGeom>
          <a:solidFill>
            <a:srgbClr val="F9F9F9"/>
          </a:solidFill>
          <a:ln w="18288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881572" y="1978466"/>
            <a:ext cx="2236859" cy="96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900" dirty="0">
                <a:solidFill>
                  <a:srgbClr val="4A5568"/>
                </a:solidFill>
                <a:latin typeface="Times New Roman"/>
                <a:ea typeface="Calibri"/>
                <a:cs typeface="Times New Roman"/>
              </a:rPr>
              <a:t>Progress report consisting of already conducted research is attached to this slide.</a:t>
            </a:r>
          </a:p>
          <a:p>
            <a:endParaRPr lang="en-US" sz="900" dirty="0">
              <a:solidFill>
                <a:srgbClr val="4A5568"/>
              </a:solidFill>
              <a:ea typeface="Calibri"/>
              <a:cs typeface="Calibri"/>
            </a:endParaRPr>
          </a:p>
          <a:p>
            <a:r>
              <a:rPr lang="en-US" sz="900" dirty="0">
                <a:solidFill>
                  <a:srgbClr val="4A5568"/>
                </a:solidFill>
                <a:ea typeface="+mn-lt"/>
                <a:cs typeface="+mn-lt"/>
                <a:hlinkClick r:id="rId4"/>
              </a:rPr>
              <a:t>https://studentsaduac-my.sharepoint.com/:w:/g/personal/1089042_students_adu_ac_ae/IQARBpffIjuvTpyWARClVW9bAea6LwJ429ddhBODEQaYlCs?e=AGMXr2</a:t>
            </a:r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5486400" y="4177001"/>
            <a:ext cx="3228975" cy="966499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5486400" y="4177001"/>
            <a:ext cx="3228975" cy="28575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593556" y="4312732"/>
            <a:ext cx="3014663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E651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HELP NEEDED / QUESTIONS</a:t>
            </a:r>
            <a:endParaRPr lang="en-US" sz="683"/>
          </a:p>
        </p:txBody>
      </p:sp>
      <p:sp>
        <p:nvSpPr>
          <p:cNvPr id="38" name="Text 35"/>
          <p:cNvSpPr/>
          <p:nvPr/>
        </p:nvSpPr>
        <p:spPr>
          <a:xfrm>
            <a:off x="5593556" y="4502041"/>
            <a:ext cx="4822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83"/>
          </a:p>
        </p:txBody>
      </p:sp>
      <p:sp>
        <p:nvSpPr>
          <p:cNvPr id="39" name="Text 36"/>
          <p:cNvSpPr/>
          <p:nvPr/>
        </p:nvSpPr>
        <p:spPr>
          <a:xfrm>
            <a:off x="5593556" y="4839193"/>
            <a:ext cx="4822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83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3042" y="362328"/>
            <a:ext cx="4664739" cy="327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MEMBER 3: Basel Feras Ghunaim </a:t>
            </a:r>
            <a:endParaRPr lang="en-US" sz="2016" dirty="0"/>
          </a:p>
        </p:txBody>
      </p:sp>
      <p:sp>
        <p:nvSpPr>
          <p:cNvPr id="4" name="Shape 1"/>
          <p:cNvSpPr/>
          <p:nvPr/>
        </p:nvSpPr>
        <p:spPr>
          <a:xfrm>
            <a:off x="428625" y="895594"/>
            <a:ext cx="4036219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895594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28625" y="895594"/>
            <a:ext cx="4036219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ACCOMPLISHED (SINCE LAST REPORT)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428625" y="1315289"/>
            <a:ext cx="4143375" cy="13202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just">
              <a:lnSpc>
                <a:spcPts val="1300"/>
              </a:lnSpc>
              <a:buNone/>
            </a:pPr>
            <a:r>
              <a:rPr lang="en-US" sz="834" dirty="0"/>
              <a:t>Established a position sensing system using homing limit switches and stepper motor step counting.</a:t>
            </a:r>
          </a:p>
          <a:p>
            <a:pPr marL="0" indent="0" algn="just">
              <a:lnSpc>
                <a:spcPts val="1300"/>
              </a:lnSpc>
              <a:buNone/>
            </a:pPr>
            <a:r>
              <a:rPr lang="en-US" sz="834" dirty="0"/>
              <a:t>Considered the necessity of a velocity sensor and ensured that velocity could be calculated in software.</a:t>
            </a:r>
          </a:p>
          <a:p>
            <a:pPr marL="0" indent="0" algn="just">
              <a:lnSpc>
                <a:spcPts val="1300"/>
              </a:lnSpc>
              <a:buNone/>
            </a:pPr>
            <a:r>
              <a:rPr lang="en-US" sz="834" dirty="0"/>
              <a:t>Design and documentation of the vacuum suction system to handle CDs, calculation of holding force and component selection.</a:t>
            </a:r>
          </a:p>
          <a:p>
            <a:pPr marL="0" indent="0" algn="just">
              <a:lnSpc>
                <a:spcPts val="1300"/>
              </a:lnSpc>
              <a:buNone/>
            </a:pPr>
            <a:r>
              <a:rPr lang="en-US" sz="834" dirty="0"/>
              <a:t>Evaluated encoder feedback as optional improvement to better positioning reliability.</a:t>
            </a:r>
          </a:p>
          <a:p>
            <a:pPr marL="0" indent="0" algn="just">
              <a:lnSpc>
                <a:spcPts val="1300"/>
              </a:lnSpc>
              <a:buNone/>
            </a:pPr>
            <a:r>
              <a:rPr lang="en-US" sz="834" dirty="0"/>
              <a:t>Added gear and belt transmission ratios to calculations of joint positions.</a:t>
            </a:r>
          </a:p>
        </p:txBody>
      </p:sp>
      <p:sp>
        <p:nvSpPr>
          <p:cNvPr id="10" name="Text 7"/>
          <p:cNvSpPr/>
          <p:nvPr/>
        </p:nvSpPr>
        <p:spPr>
          <a:xfrm>
            <a:off x="421047" y="2791879"/>
            <a:ext cx="4036219" cy="71917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Evidence:</a:t>
            </a:r>
          </a:p>
          <a:p>
            <a:pPr>
              <a:lnSpc>
                <a:spcPts val="900"/>
              </a:lnSpc>
            </a:pPr>
            <a:r>
              <a:rPr lang="en-US" sz="800" dirty="0" err="1">
                <a:hlinkClick r:id="rId4"/>
              </a:rPr>
              <a:t>stteper</a:t>
            </a:r>
            <a:r>
              <a:rPr lang="en-US" sz="800" dirty="0">
                <a:hlinkClick r:id="rId4"/>
              </a:rPr>
              <a:t> motor and encoder.docx</a:t>
            </a:r>
            <a:endParaRPr lang="en-US" sz="800" dirty="0"/>
          </a:p>
          <a:p>
            <a:pPr>
              <a:lnSpc>
                <a:spcPts val="900"/>
              </a:lnSpc>
            </a:pPr>
            <a:r>
              <a:rPr lang="en-US" sz="800" dirty="0">
                <a:hlinkClick r:id="rId5"/>
              </a:rPr>
              <a:t>Mechatronics System Design week one.docx</a:t>
            </a:r>
            <a:endParaRPr lang="en-US" sz="800" dirty="0"/>
          </a:p>
          <a:p>
            <a:pPr>
              <a:lnSpc>
                <a:spcPts val="900"/>
              </a:lnSpc>
            </a:pPr>
            <a:r>
              <a:rPr lang="en-US" sz="800" dirty="0">
                <a:hlinkClick r:id="rId6"/>
              </a:rPr>
              <a:t>Vacuum Suction System.docx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428625" y="1315289"/>
            <a:ext cx="53578" cy="15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 dirty="0"/>
          </a:p>
        </p:txBody>
      </p:sp>
      <p:sp>
        <p:nvSpPr>
          <p:cNvPr id="13" name="Shape 10"/>
          <p:cNvSpPr/>
          <p:nvPr/>
        </p:nvSpPr>
        <p:spPr>
          <a:xfrm>
            <a:off x="4679156" y="890875"/>
            <a:ext cx="4036219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679156" y="890875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679156" y="890875"/>
            <a:ext cx="4036219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 PROGRESS</a:t>
            </a:r>
            <a:endParaRPr lang="en-US" sz="885"/>
          </a:p>
        </p:txBody>
      </p:sp>
      <p:sp>
        <p:nvSpPr>
          <p:cNvPr id="16" name="Text 13"/>
          <p:cNvSpPr/>
          <p:nvPr/>
        </p:nvSpPr>
        <p:spPr>
          <a:xfrm>
            <a:off x="4679157" y="1310570"/>
            <a:ext cx="4014788" cy="115358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just">
              <a:lnSpc>
                <a:spcPts val="1300"/>
              </a:lnSpc>
              <a:buNone/>
            </a:pPr>
            <a:r>
              <a:rPr lang="en-US" sz="834" dirty="0"/>
              <a:t>Last comparison of motion control implementation software (</a:t>
            </a:r>
            <a:r>
              <a:rPr lang="en-US" sz="834" dirty="0" err="1"/>
              <a:t>AccelStepper</a:t>
            </a:r>
            <a:r>
              <a:rPr lang="en-US" sz="834" dirty="0"/>
              <a:t> library vs home written step pulse generating).</a:t>
            </a:r>
          </a:p>
          <a:p>
            <a:pPr marL="0" indent="0" algn="just">
              <a:lnSpc>
                <a:spcPts val="1300"/>
              </a:lnSpc>
              <a:buNone/>
            </a:pPr>
            <a:r>
              <a:rPr lang="en-US" sz="834" dirty="0"/>
              <a:t>Determining the need or not of encoder feedback, according to anticipated mechanical load and possible step loss.</a:t>
            </a:r>
          </a:p>
          <a:p>
            <a:pPr marL="0" indent="0" algn="just">
              <a:lnSpc>
                <a:spcPts val="1300"/>
              </a:lnSpc>
              <a:buNone/>
            </a:pPr>
            <a:r>
              <a:rPr lang="en-US" sz="834" dirty="0"/>
              <a:t>Optimizing the incorporation of the hybrid end-effector design (mechanical fingers + suction cup).</a:t>
            </a:r>
          </a:p>
          <a:p>
            <a:pPr marL="0" indent="0" algn="just">
              <a:lnSpc>
                <a:spcPts val="1300"/>
              </a:lnSpc>
              <a:buNone/>
            </a:pPr>
            <a:r>
              <a:rPr lang="en-US" sz="834" dirty="0"/>
              <a:t>Revising the effect of gear backlash and belt elasticity on positioning error.</a:t>
            </a:r>
          </a:p>
        </p:txBody>
      </p:sp>
      <p:sp>
        <p:nvSpPr>
          <p:cNvPr id="18" name="Text 15"/>
          <p:cNvSpPr/>
          <p:nvPr/>
        </p:nvSpPr>
        <p:spPr>
          <a:xfrm>
            <a:off x="4719202" y="1318629"/>
            <a:ext cx="53578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4732734" y="1656787"/>
            <a:ext cx="53578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 dirty="0"/>
          </a:p>
        </p:txBody>
      </p:sp>
      <p:sp>
        <p:nvSpPr>
          <p:cNvPr id="20" name="Shape 17"/>
          <p:cNvSpPr/>
          <p:nvPr/>
        </p:nvSpPr>
        <p:spPr>
          <a:xfrm>
            <a:off x="428625" y="3520250"/>
            <a:ext cx="4036219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28625" y="3520250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28625" y="3520250"/>
            <a:ext cx="4036219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NEXT WEEK PLAN</a:t>
            </a:r>
            <a:endParaRPr lang="en-US" sz="885"/>
          </a:p>
        </p:txBody>
      </p:sp>
      <p:sp>
        <p:nvSpPr>
          <p:cNvPr id="23" name="Text 20"/>
          <p:cNvSpPr/>
          <p:nvPr/>
        </p:nvSpPr>
        <p:spPr>
          <a:xfrm>
            <a:off x="428625" y="3939946"/>
            <a:ext cx="4143375" cy="98571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just">
              <a:lnSpc>
                <a:spcPts val="1300"/>
              </a:lnSpc>
            </a:pPr>
            <a:r>
              <a:rPr lang="en-US" sz="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Make decision on motion control strategy final and start implementation.</a:t>
            </a:r>
          </a:p>
          <a:p>
            <a:pPr algn="just">
              <a:lnSpc>
                <a:spcPts val="1300"/>
              </a:lnSpc>
            </a:pPr>
            <a:r>
              <a:rPr lang="en-US" sz="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If encoder feedback is used, begin basic planning for PID control.</a:t>
            </a:r>
          </a:p>
          <a:p>
            <a:pPr algn="just">
              <a:lnSpc>
                <a:spcPts val="1300"/>
              </a:lnSpc>
            </a:pPr>
            <a:r>
              <a:rPr lang="en-US" sz="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Perform torque estimations based on transmission ratios and loading circumstances.</a:t>
            </a:r>
          </a:p>
          <a:p>
            <a:pPr algn="just">
              <a:lnSpc>
                <a:spcPts val="1300"/>
              </a:lnSpc>
            </a:pPr>
            <a:r>
              <a:rPr lang="en-US" sz="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Begin mechanical layout planning of the installation of the suction system in the gripper assembly.</a:t>
            </a:r>
          </a:p>
          <a:p>
            <a:pPr>
              <a:lnSpc>
                <a:spcPts val="1300"/>
              </a:lnSpc>
            </a:pPr>
            <a:endParaRPr lang="en-US" sz="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28625" y="3939946"/>
            <a:ext cx="53578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26" name="Text 23"/>
          <p:cNvSpPr/>
          <p:nvPr/>
        </p:nvSpPr>
        <p:spPr>
          <a:xfrm>
            <a:off x="421047" y="4102746"/>
            <a:ext cx="53578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 dirty="0"/>
          </a:p>
        </p:txBody>
      </p:sp>
      <p:sp>
        <p:nvSpPr>
          <p:cNvPr id="27" name="Shape 24"/>
          <p:cNvSpPr/>
          <p:nvPr/>
        </p:nvSpPr>
        <p:spPr>
          <a:xfrm>
            <a:off x="4679156" y="3520250"/>
            <a:ext cx="4036219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679156" y="3520250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679156" y="3520250"/>
            <a:ext cx="4036219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HELP NEEDED / QUESTIONS</a:t>
            </a:r>
            <a:endParaRPr lang="en-US" sz="885"/>
          </a:p>
        </p:txBody>
      </p:sp>
      <p:sp>
        <p:nvSpPr>
          <p:cNvPr id="30" name="Text 27"/>
          <p:cNvSpPr/>
          <p:nvPr/>
        </p:nvSpPr>
        <p:spPr>
          <a:xfrm>
            <a:off x="4672244" y="3939946"/>
            <a:ext cx="4036219" cy="98687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Clarification on whether rotary encoders are strictly required for this project, or if open-loop stepper control with homing limit switches is sufficient.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Confirmation on the acceptable level of positioning accuracy expected for grading purposes.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Guidance on whether encoder-based closed-loop feedback is recommended given the current mechanical design (gear and belt transmission).</a:t>
            </a:r>
            <a:endParaRPr lang="en-US" sz="834" dirty="0"/>
          </a:p>
        </p:txBody>
      </p:sp>
      <p:sp>
        <p:nvSpPr>
          <p:cNvPr id="32" name="Text 29"/>
          <p:cNvSpPr/>
          <p:nvPr/>
        </p:nvSpPr>
        <p:spPr>
          <a:xfrm>
            <a:off x="4679156" y="3939946"/>
            <a:ext cx="53578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 dirty="0"/>
          </a:p>
        </p:txBody>
      </p:sp>
      <p:sp>
        <p:nvSpPr>
          <p:cNvPr id="33" name="Text 30"/>
          <p:cNvSpPr/>
          <p:nvPr/>
        </p:nvSpPr>
        <p:spPr>
          <a:xfrm>
            <a:off x="4674930" y="4254267"/>
            <a:ext cx="53578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 dirty="0"/>
          </a:p>
        </p:txBody>
      </p:sp>
      <p:sp>
        <p:nvSpPr>
          <p:cNvPr id="44" name="Text 8">
            <a:extLst>
              <a:ext uri="{FF2B5EF4-FFF2-40B4-BE49-F238E27FC236}">
                <a16:creationId xmlns:a16="http://schemas.microsoft.com/office/drawing/2014/main" id="{B7BDA710-F324-3B9A-9710-A0EB76897EA8}"/>
              </a:ext>
            </a:extLst>
          </p:cNvPr>
          <p:cNvSpPr/>
          <p:nvPr/>
        </p:nvSpPr>
        <p:spPr>
          <a:xfrm>
            <a:off x="431762" y="1623161"/>
            <a:ext cx="53578" cy="15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 dirty="0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4B87A222-9B54-646D-A814-BA55603912B6}"/>
              </a:ext>
            </a:extLst>
          </p:cNvPr>
          <p:cNvSpPr/>
          <p:nvPr/>
        </p:nvSpPr>
        <p:spPr>
          <a:xfrm>
            <a:off x="450056" y="1953420"/>
            <a:ext cx="53578" cy="15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 dirty="0"/>
          </a:p>
        </p:txBody>
      </p:sp>
      <p:sp>
        <p:nvSpPr>
          <p:cNvPr id="46" name="Text 8">
            <a:extLst>
              <a:ext uri="{FF2B5EF4-FFF2-40B4-BE49-F238E27FC236}">
                <a16:creationId xmlns:a16="http://schemas.microsoft.com/office/drawing/2014/main" id="{C0566BD4-B742-0886-99DC-9AE7CB7DB887}"/>
              </a:ext>
            </a:extLst>
          </p:cNvPr>
          <p:cNvSpPr/>
          <p:nvPr/>
        </p:nvSpPr>
        <p:spPr>
          <a:xfrm>
            <a:off x="444699" y="2292023"/>
            <a:ext cx="53578" cy="15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 dirty="0"/>
          </a:p>
        </p:txBody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63F8FC43-F0AF-6D1E-874C-A0DACFC03358}"/>
              </a:ext>
            </a:extLst>
          </p:cNvPr>
          <p:cNvSpPr/>
          <p:nvPr/>
        </p:nvSpPr>
        <p:spPr>
          <a:xfrm>
            <a:off x="444699" y="2486174"/>
            <a:ext cx="53578" cy="15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 dirty="0"/>
          </a:p>
        </p:txBody>
      </p:sp>
      <p:sp>
        <p:nvSpPr>
          <p:cNvPr id="50" name="Text 16">
            <a:extLst>
              <a:ext uri="{FF2B5EF4-FFF2-40B4-BE49-F238E27FC236}">
                <a16:creationId xmlns:a16="http://schemas.microsoft.com/office/drawing/2014/main" id="{DEA24835-06C4-63B4-7835-F5C442E9EBEF}"/>
              </a:ext>
            </a:extLst>
          </p:cNvPr>
          <p:cNvSpPr/>
          <p:nvPr/>
        </p:nvSpPr>
        <p:spPr>
          <a:xfrm>
            <a:off x="4719202" y="1963309"/>
            <a:ext cx="53578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 dirty="0"/>
          </a:p>
        </p:txBody>
      </p:sp>
      <p:sp>
        <p:nvSpPr>
          <p:cNvPr id="51" name="Text 16">
            <a:extLst>
              <a:ext uri="{FF2B5EF4-FFF2-40B4-BE49-F238E27FC236}">
                <a16:creationId xmlns:a16="http://schemas.microsoft.com/office/drawing/2014/main" id="{4B520D02-48BF-20EB-94E5-2D70982829CF}"/>
              </a:ext>
            </a:extLst>
          </p:cNvPr>
          <p:cNvSpPr/>
          <p:nvPr/>
        </p:nvSpPr>
        <p:spPr>
          <a:xfrm>
            <a:off x="4719260" y="2144548"/>
            <a:ext cx="53578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 dirty="0"/>
          </a:p>
        </p:txBody>
      </p:sp>
      <p:sp>
        <p:nvSpPr>
          <p:cNvPr id="54" name="Text 23">
            <a:extLst>
              <a:ext uri="{FF2B5EF4-FFF2-40B4-BE49-F238E27FC236}">
                <a16:creationId xmlns:a16="http://schemas.microsoft.com/office/drawing/2014/main" id="{44AEFCCD-43CE-E42B-F9B9-6332F348FFC4}"/>
              </a:ext>
            </a:extLst>
          </p:cNvPr>
          <p:cNvSpPr/>
          <p:nvPr/>
        </p:nvSpPr>
        <p:spPr>
          <a:xfrm>
            <a:off x="421047" y="4281434"/>
            <a:ext cx="53578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 dirty="0"/>
          </a:p>
        </p:txBody>
      </p:sp>
      <p:sp>
        <p:nvSpPr>
          <p:cNvPr id="55" name="Text 23">
            <a:extLst>
              <a:ext uri="{FF2B5EF4-FFF2-40B4-BE49-F238E27FC236}">
                <a16:creationId xmlns:a16="http://schemas.microsoft.com/office/drawing/2014/main" id="{79451E0A-E0B5-E081-8937-AF6C2E6553C0}"/>
              </a:ext>
            </a:extLst>
          </p:cNvPr>
          <p:cNvSpPr/>
          <p:nvPr/>
        </p:nvSpPr>
        <p:spPr>
          <a:xfrm>
            <a:off x="421047" y="4441415"/>
            <a:ext cx="53578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 dirty="0"/>
          </a:p>
        </p:txBody>
      </p:sp>
      <p:sp>
        <p:nvSpPr>
          <p:cNvPr id="56" name="Text 30">
            <a:extLst>
              <a:ext uri="{FF2B5EF4-FFF2-40B4-BE49-F238E27FC236}">
                <a16:creationId xmlns:a16="http://schemas.microsoft.com/office/drawing/2014/main" id="{18CDCCA9-B3C6-DDA8-6E64-3C1BC48071CC}"/>
              </a:ext>
            </a:extLst>
          </p:cNvPr>
          <p:cNvSpPr/>
          <p:nvPr/>
        </p:nvSpPr>
        <p:spPr>
          <a:xfrm>
            <a:off x="4701719" y="4601396"/>
            <a:ext cx="53578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65792"/>
            <a:ext cx="3693319" cy="3264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700"/>
              </a:lnSpc>
            </a:pPr>
            <a:r>
              <a:rPr lang="en-US" sz="2000" b="1">
                <a:solidFill>
                  <a:srgbClr val="000000"/>
                </a:solidFill>
                <a:latin typeface="Roboto Mono"/>
                <a:ea typeface="Roboto Mono"/>
                <a:cs typeface="Roboto Mono" pitchFamily="34" charset="-120"/>
              </a:rPr>
              <a:t>MEMBER 4: Ahmed </a:t>
            </a:r>
            <a:r>
              <a:rPr lang="en-US" sz="2000" b="1" err="1">
                <a:solidFill>
                  <a:srgbClr val="000000"/>
                </a:solidFill>
                <a:latin typeface="Roboto Mono"/>
                <a:ea typeface="Roboto Mono"/>
                <a:cs typeface="Roboto Mono" pitchFamily="34" charset="-120"/>
              </a:rPr>
              <a:t>Alshehhi</a:t>
            </a:r>
            <a:endParaRPr lang="en-US" sz="2016" err="1"/>
          </a:p>
        </p:txBody>
      </p:sp>
      <p:sp>
        <p:nvSpPr>
          <p:cNvPr id="4" name="Shape 1"/>
          <p:cNvSpPr/>
          <p:nvPr/>
        </p:nvSpPr>
        <p:spPr>
          <a:xfrm>
            <a:off x="428625" y="1292656"/>
            <a:ext cx="4036219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1292656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28625" y="1292656"/>
            <a:ext cx="4036219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ACCOMPLISHED (SINCE LAST REPORT)</a:t>
            </a:r>
            <a:endParaRPr lang="en-US" sz="885"/>
          </a:p>
        </p:txBody>
      </p:sp>
      <p:sp>
        <p:nvSpPr>
          <p:cNvPr id="7" name="Text 4"/>
          <p:cNvSpPr/>
          <p:nvPr/>
        </p:nvSpPr>
        <p:spPr>
          <a:xfrm>
            <a:off x="428625" y="1712351"/>
            <a:ext cx="3663054" cy="15215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sz="800">
                <a:solidFill>
                  <a:srgbClr val="333333"/>
                </a:solidFill>
                <a:latin typeface="Inter"/>
              </a:rPr>
              <a:t>Researched and identified the required sensors for the pick-and-place robot system.</a:t>
            </a:r>
          </a:p>
        </p:txBody>
      </p:sp>
      <p:sp>
        <p:nvSpPr>
          <p:cNvPr id="8" name="Text 5"/>
          <p:cNvSpPr/>
          <p:nvPr/>
        </p:nvSpPr>
        <p:spPr>
          <a:xfrm>
            <a:off x="449035" y="1943798"/>
            <a:ext cx="4207823" cy="31887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sz="800">
                <a:solidFill>
                  <a:srgbClr val="333333"/>
                </a:solidFill>
                <a:latin typeface="Inter"/>
              </a:rPr>
              <a:t>Evaluated different sensor options and prepared a list of recommended sensors with their </a:t>
            </a:r>
          </a:p>
          <a:p>
            <a:pPr>
              <a:lnSpc>
                <a:spcPts val="1300"/>
              </a:lnSpc>
            </a:pPr>
            <a:r>
              <a:rPr lang="en-US" sz="800">
                <a:solidFill>
                  <a:srgbClr val="333333"/>
                </a:solidFill>
                <a:latin typeface="Inter"/>
              </a:rPr>
              <a:t>purposes and approximate costs.</a:t>
            </a:r>
          </a:p>
        </p:txBody>
      </p:sp>
      <p:sp>
        <p:nvSpPr>
          <p:cNvPr id="10" name="Text 7"/>
          <p:cNvSpPr/>
          <p:nvPr/>
        </p:nvSpPr>
        <p:spPr>
          <a:xfrm>
            <a:off x="428625" y="2246681"/>
            <a:ext cx="4036219" cy="48833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>
              <a:lnSpc>
                <a:spcPts val="900"/>
              </a:lnSpc>
            </a:pPr>
            <a:r>
              <a:rPr lang="en-US" sz="800">
                <a:latin typeface="Aptos"/>
                <a:ea typeface="Inter"/>
                <a:cs typeface="Arial"/>
              </a:rPr>
              <a:t>Evidence : Sensor specification list and preliminary components comparison for decision matrix.</a:t>
            </a:r>
          </a:p>
        </p:txBody>
      </p:sp>
      <p:sp>
        <p:nvSpPr>
          <p:cNvPr id="11" name="Text 8"/>
          <p:cNvSpPr/>
          <p:nvPr/>
        </p:nvSpPr>
        <p:spPr>
          <a:xfrm>
            <a:off x="428625" y="1712351"/>
            <a:ext cx="53578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12" name="Text 9"/>
          <p:cNvSpPr/>
          <p:nvPr/>
        </p:nvSpPr>
        <p:spPr>
          <a:xfrm>
            <a:off x="428625" y="1943798"/>
            <a:ext cx="53578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13" name="Shape 10"/>
          <p:cNvSpPr/>
          <p:nvPr/>
        </p:nvSpPr>
        <p:spPr>
          <a:xfrm>
            <a:off x="4679156" y="1292656"/>
            <a:ext cx="4036219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679156" y="1292656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679156" y="1292656"/>
            <a:ext cx="4036219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 PROGRESS</a:t>
            </a:r>
            <a:endParaRPr lang="en-US" sz="885"/>
          </a:p>
        </p:txBody>
      </p:sp>
      <p:sp>
        <p:nvSpPr>
          <p:cNvPr id="16" name="Text 13"/>
          <p:cNvSpPr/>
          <p:nvPr/>
        </p:nvSpPr>
        <p:spPr>
          <a:xfrm>
            <a:off x="4679156" y="1712351"/>
            <a:ext cx="3933962" cy="148567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sz="800">
                <a:solidFill>
                  <a:srgbClr val="333333"/>
                </a:solidFill>
                <a:latin typeface="Inter"/>
              </a:rPr>
              <a:t>Assisting in defining the sensor integration architecture for the </a:t>
            </a:r>
            <a:r>
              <a:rPr lang="en-US" sz="800" err="1">
                <a:solidFill>
                  <a:srgbClr val="333333"/>
                </a:solidFill>
                <a:latin typeface="Inter"/>
              </a:rPr>
              <a:t>roboti</a:t>
            </a:r>
            <a:r>
              <a:rPr lang="en-US" sz="800">
                <a:solidFill>
                  <a:srgbClr val="333333"/>
                </a:solidFill>
                <a:latin typeface="Inter"/>
              </a:rPr>
              <a:t>c system.</a:t>
            </a:r>
          </a:p>
        </p:txBody>
      </p:sp>
      <p:sp>
        <p:nvSpPr>
          <p:cNvPr id="18" name="Text 15"/>
          <p:cNvSpPr/>
          <p:nvPr/>
        </p:nvSpPr>
        <p:spPr>
          <a:xfrm>
            <a:off x="4679156" y="1712351"/>
            <a:ext cx="53578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19" name="Text 16"/>
          <p:cNvSpPr/>
          <p:nvPr/>
        </p:nvSpPr>
        <p:spPr>
          <a:xfrm>
            <a:off x="4679156" y="1943798"/>
            <a:ext cx="65" cy="150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endParaRPr lang="en-US" sz="750" b="1">
              <a:solidFill>
                <a:srgbClr val="FF5722"/>
              </a:solidFill>
              <a:latin typeface="Inter"/>
              <a:ea typeface="Calibri"/>
              <a:cs typeface="Calibri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28625" y="3600255"/>
            <a:ext cx="4036219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28625" y="3600255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28625" y="3600255"/>
            <a:ext cx="4036219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NEXT WEEK PLAN</a:t>
            </a:r>
            <a:endParaRPr lang="en-US" sz="885"/>
          </a:p>
        </p:txBody>
      </p:sp>
      <p:sp>
        <p:nvSpPr>
          <p:cNvPr id="23" name="Text 20"/>
          <p:cNvSpPr/>
          <p:nvPr/>
        </p:nvSpPr>
        <p:spPr>
          <a:xfrm>
            <a:off x="428625" y="4019950"/>
            <a:ext cx="2938497" cy="15215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sz="800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Finalize the sensors selection based on the decision matrix results.</a:t>
            </a: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28625" y="4251396"/>
            <a:ext cx="4333109" cy="148567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sz="800">
                <a:solidFill>
                  <a:srgbClr val="333333"/>
                </a:solidFill>
                <a:latin typeface="Inter"/>
              </a:rPr>
              <a:t>Assist in integrating the selected sensors into the initial system design and CAD model.</a:t>
            </a:r>
          </a:p>
        </p:txBody>
      </p:sp>
      <p:sp>
        <p:nvSpPr>
          <p:cNvPr id="25" name="Text 22"/>
          <p:cNvSpPr/>
          <p:nvPr/>
        </p:nvSpPr>
        <p:spPr>
          <a:xfrm>
            <a:off x="428625" y="4019950"/>
            <a:ext cx="53578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26" name="Text 23"/>
          <p:cNvSpPr/>
          <p:nvPr/>
        </p:nvSpPr>
        <p:spPr>
          <a:xfrm>
            <a:off x="428625" y="4251396"/>
            <a:ext cx="53578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27" name="Shape 24"/>
          <p:cNvSpPr/>
          <p:nvPr/>
        </p:nvSpPr>
        <p:spPr>
          <a:xfrm>
            <a:off x="4679156" y="3600255"/>
            <a:ext cx="4036219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679156" y="3600255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679156" y="3600255"/>
            <a:ext cx="4036219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HELP NEEDED / QUESTIONS</a:t>
            </a:r>
            <a:endParaRPr lang="en-US" sz="885"/>
          </a:p>
        </p:txBody>
      </p:sp>
      <p:sp>
        <p:nvSpPr>
          <p:cNvPr id="30" name="Text 27"/>
          <p:cNvSpPr/>
          <p:nvPr/>
        </p:nvSpPr>
        <p:spPr>
          <a:xfrm>
            <a:off x="4679156" y="4019950"/>
            <a:ext cx="2997808" cy="15215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sz="800">
                <a:solidFill>
                  <a:srgbClr val="333333"/>
                </a:solidFill>
                <a:latin typeface="Inter"/>
              </a:rPr>
              <a:t>Clarification on the final testing parameters for the robotic systems.</a:t>
            </a:r>
          </a:p>
        </p:txBody>
      </p:sp>
      <p:sp>
        <p:nvSpPr>
          <p:cNvPr id="31" name="Text 28"/>
          <p:cNvSpPr/>
          <p:nvPr/>
        </p:nvSpPr>
        <p:spPr>
          <a:xfrm>
            <a:off x="4679156" y="4251396"/>
            <a:ext cx="171778" cy="15215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679156" y="4019950"/>
            <a:ext cx="53578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33" name="Text 30"/>
          <p:cNvSpPr/>
          <p:nvPr/>
        </p:nvSpPr>
        <p:spPr>
          <a:xfrm>
            <a:off x="4679156" y="4251396"/>
            <a:ext cx="65" cy="150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endParaRPr lang="en-US" sz="750" b="1">
              <a:solidFill>
                <a:srgbClr val="FF5722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2875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65792"/>
            <a:ext cx="8286750" cy="753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WRAP-UP: WHAT WE NEED FROM THE INSTRUCTOR / STAKEHOLDERS</a:t>
            </a:r>
            <a:endParaRPr lang="en-US" sz="2016"/>
          </a:p>
        </p:txBody>
      </p:sp>
      <p:sp>
        <p:nvSpPr>
          <p:cNvPr id="4" name="Shape 1"/>
          <p:cNvSpPr/>
          <p:nvPr/>
        </p:nvSpPr>
        <p:spPr>
          <a:xfrm>
            <a:off x="428625" y="1669489"/>
            <a:ext cx="4000500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1669489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28625" y="1669489"/>
            <a:ext cx="4000500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DECISIONS REQUESTED</a:t>
            </a:r>
            <a:endParaRPr lang="en-US" sz="885"/>
          </a:p>
        </p:txBody>
      </p:sp>
      <p:sp>
        <p:nvSpPr>
          <p:cNvPr id="7" name="Text 4"/>
          <p:cNvSpPr/>
          <p:nvPr/>
        </p:nvSpPr>
        <p:spPr>
          <a:xfrm>
            <a:off x="428625" y="2124903"/>
            <a:ext cx="4000500" cy="16177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800">
                <a:solidFill>
                  <a:srgbClr val="333333"/>
                </a:solidFill>
                <a:latin typeface="Inter"/>
              </a:rPr>
              <a:t>Access to university laboratories for 3D printing the required components and models.</a:t>
            </a:r>
            <a:endParaRPr lang="en-US" sz="834"/>
          </a:p>
        </p:txBody>
      </p:sp>
      <p:sp>
        <p:nvSpPr>
          <p:cNvPr id="8" name="Text 5"/>
          <p:cNvSpPr/>
          <p:nvPr/>
        </p:nvSpPr>
        <p:spPr>
          <a:xfrm>
            <a:off x="428625" y="2553528"/>
            <a:ext cx="4000500" cy="16177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28625" y="3196465"/>
            <a:ext cx="4000500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28625" y="3196465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28625" y="3196465"/>
            <a:ext cx="4000500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QUESTIONS / FEEDBACK</a:t>
            </a:r>
            <a:endParaRPr lang="en-US" sz="885"/>
          </a:p>
        </p:txBody>
      </p:sp>
      <p:sp>
        <p:nvSpPr>
          <p:cNvPr id="12" name="Text 9"/>
          <p:cNvSpPr/>
          <p:nvPr/>
        </p:nvSpPr>
        <p:spPr>
          <a:xfrm>
            <a:off x="428625" y="3651879"/>
            <a:ext cx="4000500" cy="16177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800">
                <a:solidFill>
                  <a:srgbClr val="333333"/>
                </a:solidFill>
                <a:latin typeface="Inter"/>
              </a:rPr>
              <a:t>When will we have access to the university labs for fabrication and testing?</a:t>
            </a:r>
          </a:p>
        </p:txBody>
      </p:sp>
      <p:sp>
        <p:nvSpPr>
          <p:cNvPr id="13" name="Text 10"/>
          <p:cNvSpPr/>
          <p:nvPr/>
        </p:nvSpPr>
        <p:spPr>
          <a:xfrm>
            <a:off x="428625" y="4080504"/>
            <a:ext cx="4000500" cy="16177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800">
                <a:solidFill>
                  <a:srgbClr val="333333"/>
                </a:solidFill>
                <a:latin typeface="Inter"/>
              </a:rPr>
              <a:t>What are the testing parameters and evaluation criteria for the prototype?</a:t>
            </a:r>
            <a:endParaRPr lang="en-US" sz="834"/>
          </a:p>
        </p:txBody>
      </p:sp>
      <p:sp>
        <p:nvSpPr>
          <p:cNvPr id="14" name="Text 11"/>
          <p:cNvSpPr/>
          <p:nvPr/>
        </p:nvSpPr>
        <p:spPr>
          <a:xfrm>
            <a:off x="428625" y="2124903"/>
            <a:ext cx="535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16" name="Text 13"/>
          <p:cNvSpPr/>
          <p:nvPr/>
        </p:nvSpPr>
        <p:spPr>
          <a:xfrm>
            <a:off x="428625" y="3651879"/>
            <a:ext cx="535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17" name="Text 14"/>
          <p:cNvSpPr/>
          <p:nvPr/>
        </p:nvSpPr>
        <p:spPr>
          <a:xfrm>
            <a:off x="428625" y="4080504"/>
            <a:ext cx="535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18" name="Shape 15"/>
          <p:cNvSpPr/>
          <p:nvPr/>
        </p:nvSpPr>
        <p:spPr>
          <a:xfrm>
            <a:off x="4714875" y="1669489"/>
            <a:ext cx="4000500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714875" y="1669489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714875" y="1669489"/>
            <a:ext cx="4000500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ACTION ITEMS FOLLOW-UP</a:t>
            </a:r>
            <a:endParaRPr lang="en-US" sz="885"/>
          </a:p>
        </p:txBody>
      </p:sp>
      <p:sp>
        <p:nvSpPr>
          <p:cNvPr id="21" name="Text 18"/>
          <p:cNvSpPr/>
          <p:nvPr/>
        </p:nvSpPr>
        <p:spPr>
          <a:xfrm>
            <a:off x="4714875" y="2124903"/>
            <a:ext cx="2084097" cy="16177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800">
                <a:solidFill>
                  <a:srgbClr val="333333"/>
                </a:solidFill>
                <a:latin typeface="Inter"/>
              </a:rPr>
              <a:t>Begin working  on the initial CAD design draft.</a:t>
            </a:r>
          </a:p>
        </p:txBody>
      </p:sp>
      <p:sp>
        <p:nvSpPr>
          <p:cNvPr id="22" name="Text 19"/>
          <p:cNvSpPr/>
          <p:nvPr/>
        </p:nvSpPr>
        <p:spPr>
          <a:xfrm>
            <a:off x="4714875" y="2382078"/>
            <a:ext cx="3621376" cy="16177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800">
                <a:solidFill>
                  <a:srgbClr val="333333"/>
                </a:solidFill>
                <a:latin typeface="Inter"/>
              </a:rPr>
              <a:t>Design, build, and test a small-scale prototype before developing the final system.</a:t>
            </a:r>
            <a:endParaRPr lang="en-US" sz="834"/>
          </a:p>
        </p:txBody>
      </p:sp>
      <p:sp>
        <p:nvSpPr>
          <p:cNvPr id="23" name="Text 20"/>
          <p:cNvSpPr/>
          <p:nvPr/>
        </p:nvSpPr>
        <p:spPr>
          <a:xfrm>
            <a:off x="4714875" y="2639253"/>
            <a:ext cx="171778" cy="16177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4714875" y="3568303"/>
            <a:ext cx="4000500" cy="1289447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714875" y="3568303"/>
            <a:ext cx="40005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714875" y="2124903"/>
            <a:ext cx="535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27" name="Text 24"/>
          <p:cNvSpPr/>
          <p:nvPr/>
        </p:nvSpPr>
        <p:spPr>
          <a:xfrm>
            <a:off x="4714875" y="2382078"/>
            <a:ext cx="535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29" name="Text 26"/>
          <p:cNvSpPr/>
          <p:nvPr/>
        </p:nvSpPr>
        <p:spPr>
          <a:xfrm>
            <a:off x="4857750" y="3739753"/>
            <a:ext cx="476092" cy="109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66666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APPENDIX </a:t>
            </a:r>
            <a:endParaRPr lang="en-US" sz="683"/>
          </a:p>
        </p:txBody>
      </p:sp>
      <p:sp>
        <p:nvSpPr>
          <p:cNvPr id="30" name="Text 27"/>
          <p:cNvSpPr/>
          <p:nvPr/>
        </p:nvSpPr>
        <p:spPr>
          <a:xfrm>
            <a:off x="4857750" y="3943350"/>
            <a:ext cx="1324273" cy="16177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800">
                <a:solidFill>
                  <a:srgbClr val="333333"/>
                </a:solidFill>
                <a:latin typeface="Inter"/>
                <a:ea typeface="Inter"/>
              </a:rPr>
              <a:t>Sensor specification sheets.</a:t>
            </a:r>
            <a:endParaRPr lang="en-US" sz="834"/>
          </a:p>
        </p:txBody>
      </p:sp>
      <p:sp>
        <p:nvSpPr>
          <p:cNvPr id="31" name="Text 28"/>
          <p:cNvSpPr/>
          <p:nvPr/>
        </p:nvSpPr>
        <p:spPr>
          <a:xfrm>
            <a:off x="4857750" y="4200525"/>
            <a:ext cx="171778" cy="16177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857750" y="4457700"/>
            <a:ext cx="171778" cy="16177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4857750" y="3943350"/>
            <a:ext cx="535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36" name="Text 27">
            <a:extLst>
              <a:ext uri="{FF2B5EF4-FFF2-40B4-BE49-F238E27FC236}">
                <a16:creationId xmlns:a16="http://schemas.microsoft.com/office/drawing/2014/main" id="{1AD73AC1-3C42-9F63-40ED-CF67B3D236FE}"/>
              </a:ext>
            </a:extLst>
          </p:cNvPr>
          <p:cNvSpPr/>
          <p:nvPr/>
        </p:nvSpPr>
        <p:spPr>
          <a:xfrm>
            <a:off x="4857750" y="4095750"/>
            <a:ext cx="1484574" cy="16177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800">
                <a:solidFill>
                  <a:srgbClr val="333333"/>
                </a:solidFill>
                <a:latin typeface="Inter"/>
                <a:ea typeface="Inter"/>
              </a:rPr>
              <a:t>MATLAB Computer Vision Code</a:t>
            </a:r>
            <a:endParaRPr lang="en-US" sz="834"/>
          </a:p>
        </p:txBody>
      </p:sp>
      <p:sp>
        <p:nvSpPr>
          <p:cNvPr id="37" name="Text 30">
            <a:extLst>
              <a:ext uri="{FF2B5EF4-FFF2-40B4-BE49-F238E27FC236}">
                <a16:creationId xmlns:a16="http://schemas.microsoft.com/office/drawing/2014/main" id="{0E96E905-36F9-C692-A9BB-2D2C4A18AEAA}"/>
              </a:ext>
            </a:extLst>
          </p:cNvPr>
          <p:cNvSpPr/>
          <p:nvPr/>
        </p:nvSpPr>
        <p:spPr>
          <a:xfrm>
            <a:off x="4857750" y="4095750"/>
            <a:ext cx="535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93d1ae2-586b-4762-bfc6-b6d9cd65cc2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96354FFF6CC942A19C2C083F94702F" ma:contentTypeVersion="15" ma:contentTypeDescription="Create a new document." ma:contentTypeScope="" ma:versionID="51772ab33cecb87251aa33550c28e442">
  <xsd:schema xmlns:xsd="http://www.w3.org/2001/XMLSchema" xmlns:xs="http://www.w3.org/2001/XMLSchema" xmlns:p="http://schemas.microsoft.com/office/2006/metadata/properties" xmlns:ns3="c9c03dcb-1852-45b8-a297-7cb123ff6eff" xmlns:ns4="793d1ae2-586b-4762-bfc6-b6d9cd65cc26" targetNamespace="http://schemas.microsoft.com/office/2006/metadata/properties" ma:root="true" ma:fieldsID="c5de175633f0ecf58f5b9e8331d93e2c" ns3:_="" ns4:_="">
    <xsd:import namespace="c9c03dcb-1852-45b8-a297-7cb123ff6eff"/>
    <xsd:import namespace="793d1ae2-586b-4762-bfc6-b6d9cd65cc2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_activity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bjectDetectorVersions" minOccurs="0"/>
                <xsd:element ref="ns4:MediaServiceDateTaken" minOccurs="0"/>
                <xsd:element ref="ns4:MediaServiceSystemTags" minOccurs="0"/>
                <xsd:element ref="ns4:MediaLengthInSeconds" minOccurs="0"/>
                <xsd:element ref="ns4:MediaServiceSearchProperties" minOccurs="0"/>
                <xsd:element ref="ns4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c03dcb-1852-45b8-a297-7cb123ff6ef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3d1ae2-586b-4762-bfc6-b6d9cd65cc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7BF07C3-32F2-4B54-ABEC-F568E42565AD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c9c03dcb-1852-45b8-a297-7cb123ff6eff"/>
    <ds:schemaRef ds:uri="http://purl.org/dc/elements/1.1/"/>
    <ds:schemaRef ds:uri="793d1ae2-586b-4762-bfc6-b6d9cd65cc26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41F096D-F3D9-4AB2-8749-1B5564A99E52}">
  <ds:schemaRefs>
    <ds:schemaRef ds:uri="793d1ae2-586b-4762-bfc6-b6d9cd65cc26"/>
    <ds:schemaRef ds:uri="c9c03dcb-1852-45b8-a297-7cb123ff6ef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E42817B-8532-4D50-923B-5326B5BF6E6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1440</Words>
  <Application>Microsoft Office PowerPoint</Application>
  <PresentationFormat>On-screen Show (16:9)</PresentationFormat>
  <Paragraphs>245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Calibri</vt:lpstr>
      <vt:lpstr>Inter</vt:lpstr>
      <vt:lpstr>Roboto Mono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Basel Feras Ghunaim</cp:lastModifiedBy>
  <cp:revision>2</cp:revision>
  <dcterms:created xsi:type="dcterms:W3CDTF">2026-03-09T12:39:49Z</dcterms:created>
  <dcterms:modified xsi:type="dcterms:W3CDTF">2026-03-10T01:19:46Z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0x010100B696354FFF6CC942A19C2C083F94702F</vt:lpwstr>
  </property>
</Properties>
</file>